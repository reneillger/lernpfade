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1" r:id="rId3"/>
    <p:sldId id="279" r:id="rId4"/>
    <p:sldId id="273" r:id="rId5"/>
    <p:sldId id="276" r:id="rId6"/>
    <p:sldId id="277" r:id="rId7"/>
    <p:sldId id="278" r:id="rId8"/>
    <p:sldId id="280" r:id="rId9"/>
    <p:sldId id="281" r:id="rId10"/>
    <p:sldId id="282" r:id="rId11"/>
    <p:sldId id="283" r:id="rId12"/>
    <p:sldId id="284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E3"/>
    <a:srgbClr val="131E35"/>
    <a:srgbClr val="9AB3DF"/>
    <a:srgbClr val="223761"/>
    <a:srgbClr val="1B55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9E5D7-9B6A-499D-963D-ECC13A179235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89185-512F-4442-BDEA-E75DA3B5AD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914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6">
            <a:extLst>
              <a:ext uri="{FF2B5EF4-FFF2-40B4-BE49-F238E27FC236}">
                <a16:creationId xmlns:a16="http://schemas.microsoft.com/office/drawing/2014/main" id="{3EFD1A67-A7DC-4BC2-9780-105286EF3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360C286-6624-4E81-A532-ABE8B47B94F3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3" name="Fußzeilenplatzhalter 7">
            <a:extLst>
              <a:ext uri="{FF2B5EF4-FFF2-40B4-BE49-F238E27FC236}">
                <a16:creationId xmlns:a16="http://schemas.microsoft.com/office/drawing/2014/main" id="{F4D0A61F-A2B0-4942-AC8A-B57FA1ACB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4" name="Foliennummernplatzhalter 9">
            <a:extLst>
              <a:ext uri="{FF2B5EF4-FFF2-40B4-BE49-F238E27FC236}">
                <a16:creationId xmlns:a16="http://schemas.microsoft.com/office/drawing/2014/main" id="{FECD752B-357D-49F7-82C6-4442CB40D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905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-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097ACFF-159C-41CD-B5F5-257E74C335D6}"/>
              </a:ext>
            </a:extLst>
          </p:cNvPr>
          <p:cNvSpPr/>
          <p:nvPr userDrawn="1"/>
        </p:nvSpPr>
        <p:spPr>
          <a:xfrm>
            <a:off x="0" y="0"/>
            <a:ext cx="12192000" cy="125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F0716F6C-1FEA-48D9-A629-90DC68191AD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52371" y="1989000"/>
            <a:ext cx="9525789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Präsentationstitel 44pt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0B79B800-1F4C-4020-AD36-03A6005776E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52371" y="3449320"/>
            <a:ext cx="9525789" cy="18311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 b="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Untertitel 28pt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DBB6D62-9021-406C-87D2-AFB905AFFE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839" y="141744"/>
            <a:ext cx="2414225" cy="926672"/>
          </a:xfrm>
          <a:prstGeom prst="rect">
            <a:avLst/>
          </a:prstGeom>
        </p:spPr>
      </p:pic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90F1BF02-9A8F-408C-89A2-BA889DA12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8120CDD-DE82-4C9F-8AFF-181E561D274C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FCCCA04C-CC81-453D-B35A-DDBCCA3CA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IT.NRW • LAB-Tage: </a:t>
            </a:r>
            <a:r>
              <a:rPr lang="de-DE" dirty="0" err="1"/>
              <a:t>Ansible</a:t>
            </a:r>
            <a:endParaRPr lang="de-DE" dirty="0"/>
          </a:p>
        </p:txBody>
      </p:sp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DE42C5E0-7967-4753-9066-3DBEB2DAD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255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097ACFF-159C-41CD-B5F5-257E74C335D6}"/>
              </a:ext>
            </a:extLst>
          </p:cNvPr>
          <p:cNvSpPr/>
          <p:nvPr userDrawn="1"/>
        </p:nvSpPr>
        <p:spPr>
          <a:xfrm>
            <a:off x="0" y="0"/>
            <a:ext cx="12192000" cy="125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F0716F6C-1FEA-48D9-A629-90DC68191AD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96000" y="2909713"/>
            <a:ext cx="5776064" cy="30243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Vorname Nachname</a:t>
            </a:r>
          </a:p>
          <a:p>
            <a:pPr lvl="0"/>
            <a:r>
              <a:rPr lang="de-DE" dirty="0"/>
              <a:t>Servicebündel</a:t>
            </a:r>
          </a:p>
          <a:p>
            <a:pPr lvl="0"/>
            <a:r>
              <a:rPr lang="de-DE" dirty="0"/>
              <a:t>Telefon</a:t>
            </a:r>
          </a:p>
          <a:p>
            <a:pPr lvl="0"/>
            <a:r>
              <a:rPr lang="de-DE" dirty="0"/>
              <a:t>E-Mail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EC4BB12-23A3-4CD7-B7CA-FEE23F1B8663}"/>
              </a:ext>
            </a:extLst>
          </p:cNvPr>
          <p:cNvSpPr/>
          <p:nvPr userDrawn="1"/>
        </p:nvSpPr>
        <p:spPr>
          <a:xfrm>
            <a:off x="6099070" y="1833241"/>
            <a:ext cx="383076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4400" dirty="0">
                <a:solidFill>
                  <a:schemeClr val="bg1"/>
                </a:solidFill>
                <a:latin typeface="Arial-BoldMT"/>
              </a:rPr>
              <a:t>Kontakt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EFFBDC8-C276-4F13-BE32-CC746C96C5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839" y="141744"/>
            <a:ext cx="2414225" cy="926672"/>
          </a:xfrm>
          <a:prstGeom prst="rect">
            <a:avLst/>
          </a:prstGeom>
        </p:spPr>
      </p:pic>
      <p:sp>
        <p:nvSpPr>
          <p:cNvPr id="10" name="Datumsplatzhalter 6">
            <a:extLst>
              <a:ext uri="{FF2B5EF4-FFF2-40B4-BE49-F238E27FC236}">
                <a16:creationId xmlns:a16="http://schemas.microsoft.com/office/drawing/2014/main" id="{6B8D0528-85A4-4DD9-A17C-67F052ED7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AE005D2-FF19-428F-8781-9CB16FB94327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11" name="Fußzeilenplatzhalter 7">
            <a:extLst>
              <a:ext uri="{FF2B5EF4-FFF2-40B4-BE49-F238E27FC236}">
                <a16:creationId xmlns:a16="http://schemas.microsoft.com/office/drawing/2014/main" id="{0C7614D8-1ECF-4267-8CCB-AD0A91CEF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12" name="Foliennummernplatzhalter 9">
            <a:extLst>
              <a:ext uri="{FF2B5EF4-FFF2-40B4-BE49-F238E27FC236}">
                <a16:creationId xmlns:a16="http://schemas.microsoft.com/office/drawing/2014/main" id="{55D5997A-02CE-456E-A1D6-0ED1ADB99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471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000" y="2709000"/>
            <a:ext cx="10800000" cy="144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4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Zwischentitel 44pt</a:t>
            </a:r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D2F0291E-8CC7-466E-925E-EA0C70D415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93DD145-4549-43F8-A3FC-34DE6412B144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4" name="Fußzeilenplatzhalter 7">
            <a:extLst>
              <a:ext uri="{FF2B5EF4-FFF2-40B4-BE49-F238E27FC236}">
                <a16:creationId xmlns:a16="http://schemas.microsoft.com/office/drawing/2014/main" id="{CABD5A4C-B943-4C2D-833E-93549E190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F2C2401F-7728-4D73-8553-09899724C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491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- Stichpunktliste (klei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596000" y="195027"/>
            <a:ext cx="9000000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496000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24pt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06806908-C5D9-48F9-A721-23F36C36455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96000" y="2691171"/>
            <a:ext cx="7200000" cy="3600000"/>
          </a:xfrm>
          <a:prstGeom prst="rect">
            <a:avLst/>
          </a:prstGeom>
        </p:spPr>
        <p:txBody>
          <a:bodyPr/>
          <a:lstStyle>
            <a:lvl1pPr marL="182563" indent="-182563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Stichpunktliste 24pt</a:t>
            </a:r>
          </a:p>
          <a:p>
            <a:pPr lvl="0"/>
            <a:r>
              <a:rPr lang="de-DE" dirty="0"/>
              <a:t>Stichpunktliste 24pt</a:t>
            </a:r>
            <a:br>
              <a:rPr lang="de-DE" dirty="0"/>
            </a:br>
            <a:r>
              <a:rPr lang="de-DE" dirty="0"/>
              <a:t>Stichpunktliste 24pt</a:t>
            </a:r>
          </a:p>
          <a:p>
            <a:pPr lvl="0"/>
            <a:r>
              <a:rPr lang="de-DE" dirty="0"/>
              <a:t>Stichpunktliste 24pt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620384E2-F29D-4CCE-84E1-8F867A393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CADF3D4-32F2-4625-9826-330A872C28D0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91E7F5B2-2BE4-4A60-A976-85788ADE3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07EB06A0-F248-4546-AEE0-58FDDC32B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43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- Stichpunktliste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596000" y="195027"/>
            <a:ext cx="9000000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496000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28pt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96000" y="2691171"/>
            <a:ext cx="7200000" cy="3600000"/>
          </a:xfrm>
          <a:prstGeom prst="rect">
            <a:avLst/>
          </a:prstGeom>
        </p:spPr>
        <p:txBody>
          <a:bodyPr/>
          <a:lstStyle>
            <a:lvl1pPr marL="182563" indent="-182563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Stichpunktliste 28pt</a:t>
            </a:r>
          </a:p>
          <a:p>
            <a:pPr lvl="0"/>
            <a:r>
              <a:rPr lang="de-DE" dirty="0"/>
              <a:t>Stichpunktliste 28pt</a:t>
            </a:r>
            <a:br>
              <a:rPr lang="de-DE" dirty="0"/>
            </a:br>
            <a:r>
              <a:rPr lang="de-DE" dirty="0"/>
              <a:t>Stichpunktliste 28pt</a:t>
            </a:r>
          </a:p>
          <a:p>
            <a:pPr lvl="0"/>
            <a:r>
              <a:rPr lang="de-DE" dirty="0"/>
              <a:t>Stichpunktliste 28pt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6F23CDD6-30EB-40CE-96A5-93F5D9342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5C47EBE-1C26-45B8-89E8-A4846365FF8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EF8093B4-EB13-4315-8C57-0DB6BFB8A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7" name="Foliennummernplatzhalter 9">
            <a:extLst>
              <a:ext uri="{FF2B5EF4-FFF2-40B4-BE49-F238E27FC236}">
                <a16:creationId xmlns:a16="http://schemas.microsoft.com/office/drawing/2014/main" id="{BEF72785-7E8E-4AF4-BCDD-391A5D851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044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-Kombinatio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11281" y="195027"/>
            <a:ext cx="7200001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11283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24pt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11283" y="2691171"/>
            <a:ext cx="7200000" cy="36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  <a:br>
              <a:rPr lang="de-DE" dirty="0"/>
            </a:br>
            <a:r>
              <a:rPr lang="de-DE" dirty="0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237088D3-FAF1-4938-B1B6-08A9D32D79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48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79537AB3-A61E-443F-A18B-746A79DB5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98A9E05-3237-43C2-99C2-ED77C36BCD72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AC23CC68-8FE4-4567-9EF6-988C28EAC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58371C85-0F0E-49D1-AD9F-DFEBAC062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919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-Kombinat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07678" y="195027"/>
            <a:ext cx="7200001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07680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28pt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07680" y="2691171"/>
            <a:ext cx="7200000" cy="36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28pt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28pt</a:t>
            </a:r>
            <a:br>
              <a:rPr lang="de-DE" dirty="0"/>
            </a:br>
            <a:r>
              <a:rPr lang="de-DE" dirty="0"/>
              <a:t>Stichpunktliste 28pt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28pt</a:t>
            </a:r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4D55736F-683C-4C9F-AA3F-7A26B786991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48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78C930EE-0E16-451D-85AD-EFAD2ACF2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98D7107-EC05-45AD-BEF4-CE6F70458CAA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BABCF8FC-0D4C-4514-BC45-DE4CB0A66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9" name="Foliennummernplatzhalter 9">
            <a:extLst>
              <a:ext uri="{FF2B5EF4-FFF2-40B4-BE49-F238E27FC236}">
                <a16:creationId xmlns:a16="http://schemas.microsoft.com/office/drawing/2014/main" id="{0A60CCC6-C6AC-4000-B18D-7E88F4C4B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617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tych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4D55736F-683C-4C9F-AA3F-7A26B786991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48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C39630C9-1EB0-4914-B2D4-A540325E97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92996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B13C3ABD-763E-4DF8-8259-179A53B2A19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86439" y="0"/>
            <a:ext cx="4005412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0" name="Inhaltsplatzhalter 11">
            <a:extLst>
              <a:ext uri="{FF2B5EF4-FFF2-40B4-BE49-F238E27FC236}">
                <a16:creationId xmlns:a16="http://schemas.microsoft.com/office/drawing/2014/main" id="{7488189E-432C-4173-B00B-F452E50FFDD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54842" y="5557850"/>
            <a:ext cx="3495431" cy="108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21" name="Inhaltsplatzhalter 11">
            <a:extLst>
              <a:ext uri="{FF2B5EF4-FFF2-40B4-BE49-F238E27FC236}">
                <a16:creationId xmlns:a16="http://schemas.microsoft.com/office/drawing/2014/main" id="{10966445-108C-4A76-91A3-08C7D06CBCD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47986" y="5557850"/>
            <a:ext cx="3495431" cy="108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22" name="Inhaltsplatzhalter 11">
            <a:extLst>
              <a:ext uri="{FF2B5EF4-FFF2-40B4-BE49-F238E27FC236}">
                <a16:creationId xmlns:a16="http://schemas.microsoft.com/office/drawing/2014/main" id="{46717A0A-3AD4-4764-955F-CB198751296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441130" y="5557850"/>
            <a:ext cx="3495431" cy="1080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19E7513C-A497-4D72-8E38-8E5AEAF7C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F9693A9-3808-440E-AD84-9D00949A7475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627AC99E-18CF-4889-B9AE-BE293B27E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F76B6652-0667-42B0-BADE-F95C02482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586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8D5E680-3D6F-4A6B-BD13-B12991546F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5" t="21569" r="19998" b="34"/>
          <a:stretch/>
        </p:blipFill>
        <p:spPr>
          <a:xfrm>
            <a:off x="-16329" y="0"/>
            <a:ext cx="12246430" cy="6854952"/>
          </a:xfrm>
          <a:prstGeom prst="rect">
            <a:avLst/>
          </a:prstGeom>
        </p:spPr>
      </p:pic>
      <p:sp>
        <p:nvSpPr>
          <p:cNvPr id="6" name="Inhaltsplatzhalter 11">
            <a:extLst>
              <a:ext uri="{FF2B5EF4-FFF2-40B4-BE49-F238E27FC236}">
                <a16:creationId xmlns:a16="http://schemas.microsoft.com/office/drawing/2014/main" id="{11A6582B-198A-43DB-97E7-9A07761E8F6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000" y="1256718"/>
            <a:ext cx="10800000" cy="43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5400">
                <a:solidFill>
                  <a:srgbClr val="9AB3DF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„Zitatfolie 54pt“</a:t>
            </a:r>
          </a:p>
        </p:txBody>
      </p:sp>
      <p:sp>
        <p:nvSpPr>
          <p:cNvPr id="8" name="Inhaltsplatzhalter 11">
            <a:extLst>
              <a:ext uri="{FF2B5EF4-FFF2-40B4-BE49-F238E27FC236}">
                <a16:creationId xmlns:a16="http://schemas.microsoft.com/office/drawing/2014/main" id="{5AF14CC7-0BA0-4C72-9790-93155E544AC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6000" y="5601282"/>
            <a:ext cx="10800000" cy="43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rgbClr val="9AB3DF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Name Zitatgeber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9B5C52F-1A1F-43FE-9691-01F1D1D03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468E1D5-0602-4D87-98B4-7FA2F8E1BC55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70B1C080-3252-4EA6-817A-2400E298E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377AEC-4DCE-44C5-94EE-ED06CE268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2690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58409" y="766976"/>
            <a:ext cx="540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4763F371-AB6B-430C-A040-C20089E6B7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58409" y="2709829"/>
            <a:ext cx="540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24pt</a:t>
            </a:r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F14117A1-E274-406B-9CC9-B7C88A5AA4D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58409" y="4652682"/>
            <a:ext cx="540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28pt</a:t>
            </a:r>
          </a:p>
        </p:txBody>
      </p:sp>
      <p:sp>
        <p:nvSpPr>
          <p:cNvPr id="19" name="Inhaltsplatzhalter 11">
            <a:extLst>
              <a:ext uri="{FF2B5EF4-FFF2-40B4-BE49-F238E27FC236}">
                <a16:creationId xmlns:a16="http://schemas.microsoft.com/office/drawing/2014/main" id="{23A91483-761E-4971-8987-FA73FED1314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429835" y="773452"/>
            <a:ext cx="144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16pt</a:t>
            </a:r>
          </a:p>
        </p:txBody>
      </p:sp>
      <p:sp>
        <p:nvSpPr>
          <p:cNvPr id="20" name="Inhaltsplatzhalter 11">
            <a:extLst>
              <a:ext uri="{FF2B5EF4-FFF2-40B4-BE49-F238E27FC236}">
                <a16:creationId xmlns:a16="http://schemas.microsoft.com/office/drawing/2014/main" id="{E9F2D1BD-4E20-4C38-B364-0B24BFCC84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741261" y="773453"/>
            <a:ext cx="1440000" cy="1438341"/>
          </a:xfrm>
          <a:prstGeom prst="roundRect">
            <a:avLst>
              <a:gd name="adj" fmla="val 3952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C6CC954D-0B9E-4F3D-B3F5-C0B2B9748F0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429835" y="2709828"/>
            <a:ext cx="1440000" cy="1438341"/>
          </a:xfrm>
          <a:prstGeom prst="roundRect">
            <a:avLst>
              <a:gd name="adj" fmla="val 50000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16pt</a:t>
            </a:r>
          </a:p>
        </p:txBody>
      </p:sp>
      <p:sp>
        <p:nvSpPr>
          <p:cNvPr id="8" name="Inhaltsplatzhalter 11">
            <a:extLst>
              <a:ext uri="{FF2B5EF4-FFF2-40B4-BE49-F238E27FC236}">
                <a16:creationId xmlns:a16="http://schemas.microsoft.com/office/drawing/2014/main" id="{540C84A1-6DBE-415E-80E4-CD3A6D4216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356781" y="2709829"/>
            <a:ext cx="2232000" cy="2229429"/>
          </a:xfrm>
          <a:prstGeom prst="roundRect">
            <a:avLst>
              <a:gd name="adj" fmla="val 50000"/>
            </a:avLst>
          </a:prstGeom>
          <a:solidFill>
            <a:srgbClr val="131E35"/>
          </a:solidFill>
          <a:ln w="31750">
            <a:gradFill>
              <a:gsLst>
                <a:gs pos="50000">
                  <a:srgbClr val="1B5586">
                    <a:lumMod val="99000"/>
                  </a:srgbClr>
                </a:gs>
                <a:gs pos="0">
                  <a:srgbClr val="009FE3"/>
                </a:gs>
                <a:gs pos="100000">
                  <a:srgbClr val="009FE3"/>
                </a:gs>
              </a:gsLst>
              <a:lin ang="5400000" scaled="1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20pt</a:t>
            </a:r>
          </a:p>
        </p:txBody>
      </p:sp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92E9C889-9056-4900-9914-BF3BE3A39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6832E2-BA15-4037-9E76-382B8B7676DF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4E05B679-C7C0-4584-A184-CC009F746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87EF1F89-D768-4BB5-80C1-A2E3C79A2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1271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/PNG- Text-Kombi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58BAAC-9BFF-46A5-8CB4-E089ED430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11281" y="195027"/>
            <a:ext cx="7200001" cy="432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Überschrift 24pt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F7E2188-D02B-4302-B856-E35DD2A429B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11283" y="939099"/>
            <a:ext cx="7200000" cy="144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Fließtext 24pt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8047CEDC-513F-414F-82E8-6E7752FF15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11283" y="2691171"/>
            <a:ext cx="7200000" cy="36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Arial-BoldMT"/>
              </a:defRPr>
            </a:lvl1pPr>
          </a:lstStyle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  <a:br>
              <a:rPr lang="de-DE" dirty="0"/>
            </a:br>
            <a:r>
              <a:rPr lang="de-DE" dirty="0"/>
              <a:t>Stichpunktliste 24pt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Stichpunktliste 24pt</a:t>
            </a:r>
          </a:p>
        </p:txBody>
      </p:sp>
      <p:sp>
        <p:nvSpPr>
          <p:cNvPr id="7" name="Inhaltsplatzhalter 11">
            <a:extLst>
              <a:ext uri="{FF2B5EF4-FFF2-40B4-BE49-F238E27FC236}">
                <a16:creationId xmlns:a16="http://schemas.microsoft.com/office/drawing/2014/main" id="{3F284A65-15CD-400B-83B9-533D6DE11D0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07842" y="2058772"/>
            <a:ext cx="2743617" cy="2740456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317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131E35"/>
                </a:solidFill>
                <a:latin typeface="Arial-BoldMT"/>
              </a:defRPr>
            </a:lvl1pPr>
          </a:lstStyle>
          <a:p>
            <a:pPr lvl="0"/>
            <a:r>
              <a:rPr lang="de-DE" dirty="0"/>
              <a:t>transparente.png-Datei</a:t>
            </a:r>
            <a:br>
              <a:rPr lang="de-DE" dirty="0"/>
            </a:br>
            <a:r>
              <a:rPr lang="de-DE" dirty="0"/>
              <a:t>einfügen</a:t>
            </a: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F7627E31-DBD5-48D8-938A-B64440C8F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32D477-5AD3-407C-B1A8-F0D0F0650A35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682B91D-9E2F-4FF9-B566-0022F3CD0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9" name="Foliennummernplatzhalter 9">
            <a:extLst>
              <a:ext uri="{FF2B5EF4-FFF2-40B4-BE49-F238E27FC236}">
                <a16:creationId xmlns:a16="http://schemas.microsoft.com/office/drawing/2014/main" id="{E98D8522-93BD-42CE-B97D-2FBF8678C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091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23761"/>
            </a:gs>
            <a:gs pos="73000">
              <a:srgbClr val="131E3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BC7E4C8D-5CAB-4D9F-80D8-A5909E6A8158}"/>
              </a:ext>
            </a:extLst>
          </p:cNvPr>
          <p:cNvSpPr txBox="1">
            <a:spLocks/>
          </p:cNvSpPr>
          <p:nvPr userDrawn="1"/>
        </p:nvSpPr>
        <p:spPr>
          <a:xfrm>
            <a:off x="1096079" y="6492873"/>
            <a:ext cx="7219581" cy="365122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3FAE9D41-E32C-4D8F-8FA2-2B57B0D21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47354" y="6492873"/>
            <a:ext cx="14092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A0F620-B3AE-4A47-8B4A-59D8625B9A19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6DEE7113-C451-4C20-A9C4-4ED131DD7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440" y="6492874"/>
            <a:ext cx="9361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AA57366-A697-42DF-930F-C8F555721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5360" y="6492876"/>
            <a:ext cx="576064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226C65-7789-4BF6-B2CA-C7BABEB02A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952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7" r:id="rId2"/>
    <p:sldLayoutId id="2147483668" r:id="rId3"/>
    <p:sldLayoutId id="2147483649" r:id="rId4"/>
    <p:sldLayoutId id="2147483651" r:id="rId5"/>
    <p:sldLayoutId id="2147483650" r:id="rId6"/>
    <p:sldLayoutId id="2147483654" r:id="rId7"/>
    <p:sldLayoutId id="2147483655" r:id="rId8"/>
    <p:sldLayoutId id="2147483657" r:id="rId9"/>
    <p:sldLayoutId id="2147483652" r:id="rId10"/>
    <p:sldLayoutId id="2147483656" r:id="rId11"/>
    <p:sldLayoutId id="214748366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edwin.schlecht@it.nrw.de" TargetMode="External"/><Relationship Id="rId2" Type="http://schemas.openxmlformats.org/officeDocument/2006/relationships/hyperlink" Target="mailto:lino.hollender@fv.nrw.de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Steven.kinkel@it.nrw.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E273ED9-2CF6-4ED5-9B83-CE9202F19EF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Team ALPHA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16DF5C-34FE-4860-B289-357EC689A46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 dirty="0"/>
              <a:t>Schwerpunkte: Benutzermanagement, </a:t>
            </a:r>
            <a:r>
              <a:rPr lang="de-DE" dirty="0" err="1"/>
              <a:t>Hierachien</a:t>
            </a:r>
            <a:r>
              <a:rPr lang="de-DE" dirty="0"/>
              <a:t> und Inventar.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CE60C4-88D0-4E72-91A6-CEE6BDE8AD7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97469A3-928E-41B6-9903-746D8423B210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E592994-37D1-4CD8-AA0C-01896AC71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IT.NRW • LAB-Tage: </a:t>
            </a:r>
            <a:r>
              <a:rPr lang="de-DE" dirty="0" err="1"/>
              <a:t>Ansible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796D9BF-82B2-414C-9E29-FF8A6AFCA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102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A7F214D-C104-4D9F-9693-E19EE129F6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505682-E314-467B-84C5-D41C3AB238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54184" y="1384498"/>
            <a:ext cx="7200000" cy="4390218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de-DE" sz="3200" dirty="0"/>
              <a:t>Ordnerstruktur</a:t>
            </a:r>
          </a:p>
          <a:p>
            <a:pPr marL="457200" indent="-457200">
              <a:buFontTx/>
              <a:buChar char="-"/>
            </a:pPr>
            <a:r>
              <a:rPr lang="de-DE" sz="3200" dirty="0"/>
              <a:t>Deep-</a:t>
            </a:r>
            <a:r>
              <a:rPr lang="de-DE" sz="3200" dirty="0" err="1"/>
              <a:t>dive</a:t>
            </a:r>
            <a:endParaRPr lang="de-DE" sz="3200" dirty="0"/>
          </a:p>
          <a:p>
            <a:pPr marL="457200" indent="-457200">
              <a:buFontTx/>
              <a:buChar char="-"/>
            </a:pPr>
            <a:r>
              <a:rPr lang="de-DE" sz="3200" dirty="0"/>
              <a:t>Szenario</a:t>
            </a:r>
          </a:p>
          <a:p>
            <a:pPr marL="457200" indent="-457200">
              <a:buFontTx/>
              <a:buChar char="-"/>
            </a:pPr>
            <a:r>
              <a:rPr lang="de-DE" sz="3200" dirty="0"/>
              <a:t>Probleme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F69138-E499-47C4-BA92-BCDC2C9A665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9EA40AD-C506-4AFC-B442-66309B5CE28E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81C2C3-AEC4-4FBF-8DB1-826B9CC76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6C90AF-84D9-4C80-9603-8CAACD2C5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09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51F4F6E-6495-B274-E2C3-16B859A9EB7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Ordnerstruktur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B196817F-A498-0A6E-5EF8-759BCAAF21A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648" y="1218330"/>
            <a:ext cx="5290704" cy="4421340"/>
          </a:xfr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95C8DB-5A5F-6766-3B9D-3693D30C980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ADF3D4-32F2-4625-9826-330A872C28D0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F2B34B-9FC0-34EF-64F1-028859406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IT.NRW • LAB-Tage: </a:t>
            </a:r>
            <a:r>
              <a:rPr lang="de-DE" dirty="0" err="1"/>
              <a:t>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91BC8A-3882-A332-9CBD-CB746EBCC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694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DBCC92D-7FC1-4A1D-A704-6B74E6A4E5F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Deep-</a:t>
            </a:r>
            <a:r>
              <a:rPr lang="de-DE" dirty="0" err="1"/>
              <a:t>dive</a:t>
            </a:r>
            <a:r>
              <a:rPr lang="de-DE" dirty="0"/>
              <a:t>: </a:t>
            </a:r>
            <a:r>
              <a:rPr lang="de-DE" dirty="0" err="1"/>
              <a:t>Hierachien</a:t>
            </a:r>
            <a:r>
              <a:rPr lang="de-DE" dirty="0"/>
              <a:t> und Inventar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E76CF4-F706-4D76-880A-441E76B16E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863600"/>
            <a:ext cx="7200000" cy="5427571"/>
          </a:xfrm>
        </p:spPr>
        <p:txBody>
          <a:bodyPr/>
          <a:lstStyle/>
          <a:p>
            <a:pPr algn="l"/>
            <a:r>
              <a:rPr lang="de-DE" b="0" i="0" dirty="0">
                <a:effectLst/>
                <a:latin typeface="-apple-system"/>
              </a:rPr>
              <a:t>Inventar: Liste aller verwalteten Server/Netzwerkgeräte.</a:t>
            </a:r>
          </a:p>
          <a:p>
            <a:pPr algn="l"/>
            <a:r>
              <a:rPr lang="de-DE" b="0" i="0" dirty="0" err="1">
                <a:effectLst/>
                <a:latin typeface="-apple-system"/>
              </a:rPr>
              <a:t>Hierachien</a:t>
            </a:r>
            <a:r>
              <a:rPr lang="de-DE" b="0" i="0" dirty="0">
                <a:effectLst/>
                <a:latin typeface="-apple-system"/>
              </a:rPr>
              <a:t>: Strukturierung und logische Gruppierung dieser Geräte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-apple-system"/>
              </a:rPr>
              <a:t>Oberste Gruppe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-apple-system"/>
              </a:rPr>
              <a:t>Gruppen </a:t>
            </a:r>
            <a:r>
              <a:rPr lang="de-DE" b="0" i="0" dirty="0" err="1">
                <a:effectLst/>
                <a:latin typeface="-apple-system"/>
              </a:rPr>
              <a:t>beeinhalten</a:t>
            </a:r>
            <a:r>
              <a:rPr lang="de-DE" b="0" i="0" dirty="0">
                <a:effectLst/>
                <a:latin typeface="-apple-system"/>
              </a:rPr>
              <a:t> andere Gruppen.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21DA51F-6AC3-4C26-BEB2-C93A427345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EF5DF5E-AD72-4AB1-A9AA-8DD0046C9FAA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8C6717A-D38A-4EB4-9AED-9B1280511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51529A-4221-44D6-8669-16C2F3EC1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2260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C4DF6D-BF68-82E3-1618-1A290B4DCB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1629000"/>
            <a:ext cx="7200000" cy="3600000"/>
          </a:xfrm>
        </p:spPr>
        <p:txBody>
          <a:bodyPr/>
          <a:lstStyle/>
          <a:p>
            <a:pPr marL="0" indent="0" algn="ctr">
              <a:buNone/>
            </a:pPr>
            <a:br>
              <a:rPr lang="de-DE" sz="7200" dirty="0"/>
            </a:br>
            <a:r>
              <a:rPr lang="de-DE" sz="7200" dirty="0"/>
              <a:t>Beispiel: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53CC83-F125-9015-5EB6-BDE321C7A54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ADF3D4-32F2-4625-9826-330A872C28D0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9D5366-3148-3DE0-9D47-5520FA21D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CA9B2A-252E-61EF-F4EF-2CB56EB48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7014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53CC83-F125-9015-5EB6-BDE321C7A54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ADF3D4-32F2-4625-9826-330A872C28D0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9D5366-3148-3DE0-9D47-5520FA21D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CA9B2A-252E-61EF-F4EF-2CB56EB48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6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BB5C614-0432-19A1-C1E5-ECF98F994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19087"/>
            <a:ext cx="9753600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99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009EDB5-5B34-447E-9A53-B3ADD6EBD2A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Szenario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84C970-9A92-45C3-0FAA-E8C48AD31C9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 dirty="0"/>
              <a:t>Wir hatten das Szenario „Benutzermanagement“ gewählt.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1CF602-3C02-DD01-C5EE-DA32CD9D85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Was war unser Ziel: </a:t>
            </a:r>
          </a:p>
          <a:p>
            <a:pPr marL="0" indent="0">
              <a:buNone/>
            </a:pPr>
            <a:r>
              <a:rPr lang="de-DE" dirty="0"/>
              <a:t>Benutzer universell von einem Controller aus besser steuern und verwalten zu können.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FAB9D3-96EE-B65F-E179-3CAE5B200BC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ADF3D4-32F2-4625-9826-330A872C28D0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D399C9-2D73-4B97-7293-CCF38FD1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EFA39F-4AEB-E9C0-00FC-AD7903850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6418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340D13C-62FD-7AD3-5E6A-1904B5E1600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Playbook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695A8B1A-39AC-82C2-1AA9-DC7A1FDF20A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314" y="2885999"/>
            <a:ext cx="2667372" cy="1086002"/>
          </a:xfr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4DA3E8C-E9C6-0BC4-8C28-5408E57883E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ADF3D4-32F2-4625-9826-330A872C28D0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92E107-E239-D7C7-7D5F-6D607F966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9D8382-BE60-3C2E-3239-654D2ADF4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9064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7AB627F-5471-DB1F-3281-8A34B694752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Probleme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64F05F-14EC-CEB1-6FC5-EE3B125F035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6000" y="904240"/>
            <a:ext cx="7200000" cy="5386931"/>
          </a:xfrm>
        </p:spPr>
        <p:txBody>
          <a:bodyPr/>
          <a:lstStyle/>
          <a:p>
            <a:r>
              <a:rPr lang="de-DE" dirty="0" err="1"/>
              <a:t>Ansible</a:t>
            </a:r>
            <a:r>
              <a:rPr lang="de-DE" dirty="0"/>
              <a:t> Dokumentation ist mies</a:t>
            </a:r>
          </a:p>
          <a:p>
            <a:r>
              <a:rPr lang="de-DE" dirty="0"/>
              <a:t>Aller Anfang ist schwer</a:t>
            </a:r>
          </a:p>
          <a:p>
            <a:r>
              <a:rPr lang="de-DE" dirty="0"/>
              <a:t>Wie in allen Projekten zuvor: KI ist Fluch und Segen.</a:t>
            </a:r>
          </a:p>
          <a:p>
            <a:r>
              <a:rPr lang="de-DE" dirty="0"/>
              <a:t>Fehlermeldungen sind viel Filler und wenig Inhalt</a:t>
            </a:r>
          </a:p>
          <a:p>
            <a:r>
              <a:rPr lang="de-DE" dirty="0"/>
              <a:t>Man sollte wissen, was man macht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5A1564-86CF-887E-DE52-F2305CE774D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ADF3D4-32F2-4625-9826-330A872C28D0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C1DC82-D4AD-C0A3-5EE7-46778F6F5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3BA166-49EF-B496-899C-7834315F6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0663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8B107E5-DF04-6919-01EB-DD1CF93FD5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Problemmeldung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940DBF-EDD2-A43D-53F1-4035C537DE1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ADF3D4-32F2-4625-9826-330A872C28D0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DDA3C6-D688-9F72-4C34-D0B16B9EF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E02ABC-EE6E-0157-C8C6-3D59FBD9D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10</a:t>
            </a:fld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307E8F6-4D23-AF58-B2AC-177070F92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23" y="686297"/>
            <a:ext cx="10447354" cy="5485406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1205DB0-9754-B913-CE4B-F2A1E942DB96}"/>
              </a:ext>
            </a:extLst>
          </p:cNvPr>
          <p:cNvSpPr/>
          <p:nvPr/>
        </p:nvSpPr>
        <p:spPr>
          <a:xfrm>
            <a:off x="872323" y="2743200"/>
            <a:ext cx="5223677" cy="8636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91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4EDED48-54D7-CE6F-F255-14D5F6F53F2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8634FC3-A2E6-70FD-4318-544E1F9AC57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93DD145-4549-43F8-A3FC-34DE6412B144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66E8DE-1A75-C520-EF60-49EAE714B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880B2BE-C501-28E4-8D4E-354A4B96F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1010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8B63A38-A3AD-B7B2-E60F-33C4A828916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 dirty="0"/>
              <a:t>Lino Hollender </a:t>
            </a:r>
            <a:r>
              <a:rPr lang="de-DE" dirty="0">
                <a:hlinkClick r:id="rId2"/>
              </a:rPr>
              <a:t>lino.hollender@fv.nrw.de</a:t>
            </a:r>
            <a:endParaRPr lang="de-DE" dirty="0"/>
          </a:p>
          <a:p>
            <a:r>
              <a:rPr lang="de-DE" dirty="0"/>
              <a:t>Edwin Schlecht </a:t>
            </a:r>
            <a:r>
              <a:rPr lang="de-DE" dirty="0">
                <a:hlinkClick r:id="rId3"/>
              </a:rPr>
              <a:t>edwin.schlecht@it.nrw.de</a:t>
            </a:r>
            <a:endParaRPr lang="de-DE" dirty="0"/>
          </a:p>
          <a:p>
            <a:r>
              <a:rPr lang="de-DE" dirty="0"/>
              <a:t>Steven Kinkel</a:t>
            </a:r>
          </a:p>
          <a:p>
            <a:r>
              <a:rPr lang="de-DE" dirty="0">
                <a:hlinkClick r:id="rId4"/>
              </a:rPr>
              <a:t>Steven.kinkel@it.nrw.de</a:t>
            </a:r>
            <a:r>
              <a:rPr lang="de-DE" dirty="0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8F615BE-D00B-A082-79CA-4E03A4698E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AE005D2-FF19-428F-8781-9CB16FB94327}" type="datetime1">
              <a:rPr lang="de-DE" smtClean="0"/>
              <a:t>12.06.2026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C2CD0E-DF6C-60BB-C6B1-B8AFD93CD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IT.NRW • LAB-Tage: Ansible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3248C8-56BF-E985-AD96-4DF2ABCD0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26C65-7789-4BF6-B2CA-C7BABEB02AEA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724445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folie">
  <a:themeElements>
    <a:clrScheme name="ITNRW_2024">
      <a:dk1>
        <a:srgbClr val="131E35"/>
      </a:dk1>
      <a:lt1>
        <a:sysClr val="window" lastClr="FFFFFF"/>
      </a:lt1>
      <a:dk2>
        <a:srgbClr val="131E35"/>
      </a:dk2>
      <a:lt2>
        <a:srgbClr val="9AB3DF"/>
      </a:lt2>
      <a:accent1>
        <a:srgbClr val="009FE3"/>
      </a:accent1>
      <a:accent2>
        <a:srgbClr val="00689E"/>
      </a:accent2>
      <a:accent3>
        <a:srgbClr val="A1A3A6"/>
      </a:accent3>
      <a:accent4>
        <a:srgbClr val="A0C300"/>
      </a:accent4>
      <a:accent5>
        <a:srgbClr val="00477D"/>
      </a:accent5>
      <a:accent6>
        <a:srgbClr val="00A8B4"/>
      </a:accent6>
      <a:hlink>
        <a:srgbClr val="D0B5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Breitbild</PresentationFormat>
  <Paragraphs>67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Arial-BoldMT</vt:lpstr>
      <vt:lpstr>Calibri</vt:lpstr>
      <vt:lpstr>Basisfolie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Bonrath, Daniel (IT.NRW)</dc:creator>
  <cp:lastModifiedBy>Kinkel, Steven (IT.NRW)</cp:lastModifiedBy>
  <cp:revision>56</cp:revision>
  <dcterms:created xsi:type="dcterms:W3CDTF">2024-01-05T11:59:58Z</dcterms:created>
  <dcterms:modified xsi:type="dcterms:W3CDTF">2026-06-12T08:30:30Z</dcterms:modified>
</cp:coreProperties>
</file>