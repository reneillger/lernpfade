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73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4" r:id="rId19"/>
    <p:sldId id="291" r:id="rId20"/>
    <p:sldId id="292" r:id="rId21"/>
    <p:sldId id="293" r:id="rId22"/>
    <p:sldId id="269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E3"/>
    <a:srgbClr val="131E35"/>
    <a:srgbClr val="9AB3DF"/>
    <a:srgbClr val="223761"/>
    <a:srgbClr val="1B55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9E5D7-9B6A-499D-963D-ECC13A179235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89185-512F-4442-BDEA-E75DA3B5AD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4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6">
            <a:extLst>
              <a:ext uri="{FF2B5EF4-FFF2-40B4-BE49-F238E27FC236}">
                <a16:creationId xmlns:a16="http://schemas.microsoft.com/office/drawing/2014/main" id="{3EFD1A67-A7DC-4BC2-9780-105286EF3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74559C2-37FD-499E-BA87-16D6B3122C74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3" name="Fußzeilenplatzhalter 7">
            <a:extLst>
              <a:ext uri="{FF2B5EF4-FFF2-40B4-BE49-F238E27FC236}">
                <a16:creationId xmlns:a16="http://schemas.microsoft.com/office/drawing/2014/main" id="{F4D0A61F-A2B0-4942-AC8A-B57FA1ACB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4" name="Foliennummernplatzhalter 9">
            <a:extLst>
              <a:ext uri="{FF2B5EF4-FFF2-40B4-BE49-F238E27FC236}">
                <a16:creationId xmlns:a16="http://schemas.microsoft.com/office/drawing/2014/main" id="{FECD752B-357D-49F7-82C6-4442CB40D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90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-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52371" y="1989000"/>
            <a:ext cx="9525789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Präsentationstitel 44pt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B79B800-1F4C-4020-AD36-03A6005776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2371" y="3449320"/>
            <a:ext cx="9525789" cy="18311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Untertitel 28pt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BB6D62-9021-406C-87D2-AFB905AF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0F1BF02-9A8F-408C-89A2-BA889DA1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47EE13-74AE-4C8A-9A97-03731C3CCC3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FCCCA04C-CC81-453D-B35A-DDBCCA3C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DE42C5E0-7967-4753-9066-3DBEB2DAD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55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96000" y="2909713"/>
            <a:ext cx="5776064" cy="30243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Vorname Nachname</a:t>
            </a:r>
          </a:p>
          <a:p>
            <a:pPr lvl="0"/>
            <a:r>
              <a:rPr lang="de-DE" dirty="0"/>
              <a:t>Servicebündel</a:t>
            </a:r>
          </a:p>
          <a:p>
            <a:pPr lvl="0"/>
            <a:r>
              <a:rPr lang="de-DE" dirty="0"/>
              <a:t>Telefon</a:t>
            </a:r>
          </a:p>
          <a:p>
            <a:pPr lvl="0"/>
            <a:r>
              <a:rPr lang="de-DE" dirty="0"/>
              <a:t>E-Mail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C4BB12-23A3-4CD7-B7CA-FEE23F1B8663}"/>
              </a:ext>
            </a:extLst>
          </p:cNvPr>
          <p:cNvSpPr/>
          <p:nvPr userDrawn="1"/>
        </p:nvSpPr>
        <p:spPr>
          <a:xfrm>
            <a:off x="6099070" y="1833241"/>
            <a:ext cx="38307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400" dirty="0">
                <a:solidFill>
                  <a:schemeClr val="bg1"/>
                </a:solidFill>
                <a:latin typeface="Arial-BoldMT"/>
              </a:rPr>
              <a:t>Kontakt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FFBDC8-C276-4F13-BE32-CC746C96C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6B8D0528-85A4-4DD9-A17C-67F052ED7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4B1A88-DBAF-4EA6-B634-A43472FD02FE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1" name="Fußzeilenplatzhalter 7">
            <a:extLst>
              <a:ext uri="{FF2B5EF4-FFF2-40B4-BE49-F238E27FC236}">
                <a16:creationId xmlns:a16="http://schemas.microsoft.com/office/drawing/2014/main" id="{0C7614D8-1ECF-4267-8CCB-AD0A91CE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12" name="Foliennummernplatzhalter 9">
            <a:extLst>
              <a:ext uri="{FF2B5EF4-FFF2-40B4-BE49-F238E27FC236}">
                <a16:creationId xmlns:a16="http://schemas.microsoft.com/office/drawing/2014/main" id="{55D5997A-02CE-456E-A1D6-0ED1ADB9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471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2709000"/>
            <a:ext cx="10800000" cy="144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4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Zwischentitel 44pt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D2F0291E-8CC7-466E-925E-EA0C70D41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63D2B64-07AB-4121-B5F1-30457100281D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7">
            <a:extLst>
              <a:ext uri="{FF2B5EF4-FFF2-40B4-BE49-F238E27FC236}">
                <a16:creationId xmlns:a16="http://schemas.microsoft.com/office/drawing/2014/main" id="{CABD5A4C-B943-4C2D-833E-93549E190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F2C2401F-7728-4D73-8553-09899724C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491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kle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6806908-C5D9-48F9-A721-23F36C36455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Stichpunktliste 24pt</a:t>
            </a:r>
          </a:p>
          <a:p>
            <a:pPr lvl="0"/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lvl="0"/>
            <a:r>
              <a:rPr lang="de-DE" dirty="0"/>
              <a:t>Stichpunktliste 24pt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20384E2-F29D-4CCE-84E1-8F867A393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1E7F5B2-2BE4-4A60-A976-85788ADE3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07EB06A0-F248-4546-AEE0-58FDDC32B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43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Stichpunktliste 28pt</a:t>
            </a:r>
          </a:p>
          <a:p>
            <a:pPr lvl="0"/>
            <a:r>
              <a:rPr lang="de-DE" dirty="0"/>
              <a:t>Stichpunktliste 28pt</a:t>
            </a:r>
            <a:br>
              <a:rPr lang="de-DE" dirty="0"/>
            </a:br>
            <a:r>
              <a:rPr lang="de-DE" dirty="0"/>
              <a:t>Stichpunktliste 28pt</a:t>
            </a:r>
          </a:p>
          <a:p>
            <a:pPr lvl="0"/>
            <a:r>
              <a:rPr lang="de-DE" dirty="0"/>
              <a:t>Stichpunktliste 28pt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F23CDD6-30EB-40CE-96A5-93F5D9342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840E43-3F87-46C3-B5EF-4E57E96EDDB3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EF8093B4-EB13-4315-8C57-0DB6BFB8A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7" name="Foliennummernplatzhalter 9">
            <a:extLst>
              <a:ext uri="{FF2B5EF4-FFF2-40B4-BE49-F238E27FC236}">
                <a16:creationId xmlns:a16="http://schemas.microsoft.com/office/drawing/2014/main" id="{BEF72785-7E8E-4AF4-BCDD-391A5D851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44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237088D3-FAF1-4938-B1B6-08A9D32D79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9537AB3-A61E-443F-A18B-746A79DB5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4E137C-8DDD-4F3B-8722-86DC93E41762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AC23CC68-8FE4-4567-9EF6-988C28EAC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58371C85-0F0E-49D1-AD9F-DFEBAC062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19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07678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0768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07680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  <a:br>
              <a:rPr lang="de-DE" dirty="0"/>
            </a:br>
            <a:r>
              <a:rPr lang="de-DE" dirty="0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8C930EE-0E16-451D-85AD-EFAD2ACF2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DB9055-95CE-470A-A125-6B41EBA46E42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ABCF8FC-0D4C-4514-BC45-DE4CB0A66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0A60CCC6-C6AC-4000-B18D-7E88F4C4B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7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C39630C9-1EB0-4914-B2D4-A540325E9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92996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B13C3ABD-763E-4DF8-8259-179A53B2A1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6439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7488189E-432C-4173-B00B-F452E50FFD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54842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21" name="Inhaltsplatzhalter 11">
            <a:extLst>
              <a:ext uri="{FF2B5EF4-FFF2-40B4-BE49-F238E27FC236}">
                <a16:creationId xmlns:a16="http://schemas.microsoft.com/office/drawing/2014/main" id="{10966445-108C-4A76-91A3-08C7D06CBCD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47986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22" name="Inhaltsplatzhalter 11">
            <a:extLst>
              <a:ext uri="{FF2B5EF4-FFF2-40B4-BE49-F238E27FC236}">
                <a16:creationId xmlns:a16="http://schemas.microsoft.com/office/drawing/2014/main" id="{46717A0A-3AD4-4764-955F-CB198751296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441130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19E7513C-A497-4D72-8E38-8E5AEAF7C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D5E51B-DDF5-4AB8-B054-70F956EEA97C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627AC99E-18CF-4889-B9AE-BE293B27E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F76B6652-0667-42B0-BADE-F95C02482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58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D5E680-3D6F-4A6B-BD13-B12991546F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5" t="21569" r="19998" b="34"/>
          <a:stretch/>
        </p:blipFill>
        <p:spPr>
          <a:xfrm>
            <a:off x="-16329" y="0"/>
            <a:ext cx="12246430" cy="6854952"/>
          </a:xfrm>
          <a:prstGeom prst="rect">
            <a:avLst/>
          </a:prstGeom>
        </p:spPr>
      </p:pic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11A6582B-198A-43DB-97E7-9A07761E8F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1256718"/>
            <a:ext cx="10800000" cy="43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54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„Zitatfolie 54pt“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AF14CC7-0BA0-4C72-9790-93155E544AC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00" y="5601282"/>
            <a:ext cx="10800000" cy="43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Name Zitatgeber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B5C52F-1A1F-43FE-9691-01F1D1D03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369EED-E6D3-4587-8846-695ED214D41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70B1C080-3252-4EA6-817A-2400E298E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377AEC-4DCE-44C5-94EE-ED06CE268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269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8409" y="766976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4763F371-AB6B-430C-A040-C20089E6B7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58409" y="2709829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F14117A1-E274-406B-9CC9-B7C88A5AA4D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58409" y="4652682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9" name="Inhaltsplatzhalter 11">
            <a:extLst>
              <a:ext uri="{FF2B5EF4-FFF2-40B4-BE49-F238E27FC236}">
                <a16:creationId xmlns:a16="http://schemas.microsoft.com/office/drawing/2014/main" id="{23A91483-761E-4971-8987-FA73FED1314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29835" y="773452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16pt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E9F2D1BD-4E20-4C38-B364-0B24BFCC84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741261" y="773453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C6CC954D-0B9E-4F3D-B3F5-C0B2B9748F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29835" y="2709828"/>
            <a:ext cx="1440000" cy="1438341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16pt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40C84A1-6DBE-415E-80E4-CD3A6D4216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356781" y="2709829"/>
            <a:ext cx="2232000" cy="2229429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2E9C889-9056-4900-9914-BF3BE3A39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5BA9D9-54B9-4EF9-A6CB-4EF3E6227C8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4E05B679-C7C0-4584-A184-CC009F746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87EF1F89-D768-4BB5-80C1-A2E3C79A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27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/PNG- Text-Komb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3F284A65-15CD-400B-83B9-533D6DE11D0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07842" y="2058772"/>
            <a:ext cx="2743617" cy="2740456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317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31E35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transparente.png-Datei</a:t>
            </a:r>
            <a:br>
              <a:rPr lang="de-DE" dirty="0"/>
            </a:br>
            <a:r>
              <a:rPr lang="de-DE" dirty="0"/>
              <a:t>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F7627E31-DBD5-48D8-938A-B64440C8F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EC1D-7BC0-48F8-8D82-23E240331DC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82B91D-9E2F-4FF9-B566-0022F3CD0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  <a:endParaRPr lang="de-DE" dirty="0"/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E98D8522-93BD-42CE-B97D-2FBF8678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091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23761"/>
            </a:gs>
            <a:gs pos="73000">
              <a:srgbClr val="131E3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BC7E4C8D-5CAB-4D9F-80D8-A5909E6A8158}"/>
              </a:ext>
            </a:extLst>
          </p:cNvPr>
          <p:cNvSpPr txBox="1">
            <a:spLocks/>
          </p:cNvSpPr>
          <p:nvPr userDrawn="1"/>
        </p:nvSpPr>
        <p:spPr>
          <a:xfrm>
            <a:off x="1096079" y="6492873"/>
            <a:ext cx="7219581" cy="365122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3FAE9D41-E32C-4D8F-8FA2-2B57B0D21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2941C0B-7E34-4236-9E61-266981EF7484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6DEE7113-C451-4C20-A9C4-4ED131DD7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AA57366-A697-42DF-930F-C8F555721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95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49" r:id="rId4"/>
    <p:sldLayoutId id="2147483651" r:id="rId5"/>
    <p:sldLayoutId id="2147483650" r:id="rId6"/>
    <p:sldLayoutId id="2147483654" r:id="rId7"/>
    <p:sldLayoutId id="2147483655" r:id="rId8"/>
    <p:sldLayoutId id="2147483657" r:id="rId9"/>
    <p:sldLayoutId id="2147483652" r:id="rId10"/>
    <p:sldLayoutId id="2147483656" r:id="rId11"/>
    <p:sldLayoutId id="214748366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Matthias.Lenk@it.nrw.de" TargetMode="External"/><Relationship Id="rId2" Type="http://schemas.openxmlformats.org/officeDocument/2006/relationships/hyperlink" Target="mailto:Joel.Valentino@it.nrw.d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Oguzarslan.Kuecuek@it.nrw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E273ED9-2CF6-4ED5-9B83-CE9202F19EF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ctr"/>
            <a:r>
              <a:rPr lang="de-DE" dirty="0"/>
              <a:t>Projektphase </a:t>
            </a:r>
            <a:r>
              <a:rPr lang="de-DE" dirty="0" err="1"/>
              <a:t>Ansible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16DF5C-34FE-4860-B289-357EC689A4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2371" y="2981960"/>
            <a:ext cx="9525789" cy="1831160"/>
          </a:xfrm>
        </p:spPr>
        <p:txBody>
          <a:bodyPr/>
          <a:lstStyle/>
          <a:p>
            <a:r>
              <a:rPr lang="de-DE" b="1" dirty="0"/>
              <a:t>Gruppe λ</a:t>
            </a:r>
          </a:p>
          <a:p>
            <a:r>
              <a:rPr lang="de-DE" sz="1400" b="1" dirty="0"/>
              <a:t>Joel Valentino</a:t>
            </a:r>
          </a:p>
          <a:p>
            <a:r>
              <a:rPr lang="de-DE" sz="1400" b="1" dirty="0"/>
              <a:t>Matthias Lenk </a:t>
            </a:r>
          </a:p>
          <a:p>
            <a:r>
              <a:rPr lang="de-DE" sz="1400" b="1" dirty="0"/>
              <a:t>Oguz Arslan Kücük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CE60C4-88D0-4E72-91A6-CEE6BDE8AD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A21D94-405A-4856-9CA8-68A61ED527D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592994-37D1-4CD8-AA0C-01896AC71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796D9BF-82B2-414C-9E29-FF8A6AFCA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102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BCC92D-7FC1-4A1D-A704-6B74E6A4E5F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Agenda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E76CF4-F706-4D76-880A-441E76B16E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29000"/>
            <a:ext cx="7200000" cy="3600000"/>
          </a:xfrm>
        </p:spPr>
        <p:txBody>
          <a:bodyPr/>
          <a:lstStyle/>
          <a:p>
            <a:r>
              <a:rPr lang="de-DE" dirty="0"/>
              <a:t>Szenario „Dokumentation“</a:t>
            </a:r>
          </a:p>
          <a:p>
            <a:r>
              <a:rPr lang="de-DE" dirty="0"/>
              <a:t>Deep-Dive „Fehlerbehebung“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1DA51F-6AC3-4C26-BEB2-C93A427345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6717A-D38A-4EB4-9AED-9B1280511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51529A-4221-44D6-8669-16C2F3EC1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226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C3E6-F57B-C96B-6F32-1417F5CB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D60BF3-32DF-B15A-0FEB-340DCA0EF0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35960" y="1629000"/>
            <a:ext cx="7200000" cy="3600000"/>
          </a:xfrm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pPr marL="0" indent="0" algn="ctr">
              <a:buNone/>
            </a:pPr>
            <a:r>
              <a:rPr lang="de-DE" sz="3600" dirty="0"/>
              <a:t>Deep – Dive Fehlerbehebung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21049E5-5C28-B209-2616-0564235F50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307B924-AF13-A770-D9C5-C29F0D8CD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6EBC35-34EA-1729-0040-58281FC79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9CB494E-7CA6-1693-9C5B-BBD5B2F5D29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289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3C19-6B23-C297-DBCE-2C1E4DD1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CE1356E-07D7-9224-0282-4D4A02A8022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Deep – Dive Fehlerbehebung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AB5116-A2B5-C8A4-3706-CC0045BCDE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191126"/>
            <a:ext cx="7622976" cy="521983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Methoden:</a:t>
            </a:r>
          </a:p>
          <a:p>
            <a:r>
              <a:rPr lang="de-DE" sz="2000" dirty="0" err="1"/>
              <a:t>ignore_errors</a:t>
            </a:r>
            <a:endParaRPr lang="de-DE" sz="2000" dirty="0"/>
          </a:p>
          <a:p>
            <a:r>
              <a:rPr lang="de-DE" sz="2000" dirty="0"/>
              <a:t>block/</a:t>
            </a:r>
            <a:r>
              <a:rPr lang="de-DE" sz="2000" dirty="0" err="1"/>
              <a:t>rescue</a:t>
            </a:r>
            <a:r>
              <a:rPr lang="de-DE" sz="2000" dirty="0"/>
              <a:t>/</a:t>
            </a:r>
            <a:r>
              <a:rPr lang="de-DE" sz="2000" dirty="0" err="1"/>
              <a:t>always</a:t>
            </a:r>
            <a:endParaRPr lang="de-DE" sz="2000" dirty="0"/>
          </a:p>
          <a:p>
            <a:r>
              <a:rPr lang="de-DE" sz="2000" dirty="0" err="1"/>
              <a:t>failed_when</a:t>
            </a:r>
            <a:endParaRPr lang="de-DE" sz="2000" dirty="0"/>
          </a:p>
          <a:p>
            <a:r>
              <a:rPr lang="de-DE" sz="2000" dirty="0" err="1"/>
              <a:t>when</a:t>
            </a:r>
            <a:endParaRPr lang="de-DE" sz="2000" dirty="0"/>
          </a:p>
          <a:p>
            <a:r>
              <a:rPr lang="de-DE" sz="2000" dirty="0" err="1"/>
              <a:t>changed_when</a:t>
            </a:r>
            <a:endParaRPr lang="de-DE" sz="2000" dirty="0"/>
          </a:p>
          <a:p>
            <a:r>
              <a:rPr lang="de-DE" sz="2000" dirty="0"/>
              <a:t>fail-Modul</a:t>
            </a:r>
          </a:p>
          <a:p>
            <a:r>
              <a:rPr lang="de-DE" sz="2000" dirty="0" err="1"/>
              <a:t>any_errors_fatal</a:t>
            </a:r>
            <a:r>
              <a:rPr lang="de-DE" sz="2000" dirty="0"/>
              <a:t> &amp; </a:t>
            </a:r>
            <a:r>
              <a:rPr lang="de-DE" sz="2000" dirty="0" err="1"/>
              <a:t>max_fail_percentage</a:t>
            </a:r>
            <a:r>
              <a:rPr lang="de-DE" sz="2000" dirty="0"/>
              <a:t>  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0EC439B-3AC0-A2BA-1389-FE21B61CC83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88A14D-B9EC-0F52-87AE-78457642F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C2BED21-5D64-67D1-AB6E-676D54EDD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296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D045-D6DA-C0BE-8A89-B27072AE3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D462C73-B5FB-D4F7-826E-0E64973BEE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8000B8-C6EA-97E4-BAAA-5F14E136B0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ignore_errors:true</a:t>
            </a:r>
            <a:endParaRPr lang="de-DE" dirty="0"/>
          </a:p>
          <a:p>
            <a:r>
              <a:rPr lang="de-DE" dirty="0"/>
              <a:t>Playbook läuft trotz Fehler weiter</a:t>
            </a:r>
          </a:p>
          <a:p>
            <a:r>
              <a:rPr lang="de-DE" dirty="0"/>
              <a:t>Wird Markiert, aber nicht abgebrochen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40920-0A7D-72AF-33D9-7475545AA06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458C24-8896-343D-289E-D768821DB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6361DE8-CC4C-52C7-F72B-412AD0DBD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DD5A40-CBB0-15B7-5672-F5E873C5C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3684889"/>
            <a:ext cx="3369733" cy="196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84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D2920-7DCD-FF44-86AD-16377C08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29B60D0-E9D2-7060-ADE0-296E9983D31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ABDF32-B1DB-6624-CB78-365140AB29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block / </a:t>
            </a:r>
            <a:r>
              <a:rPr lang="de-DE" dirty="0" err="1"/>
              <a:t>rescue</a:t>
            </a:r>
            <a:r>
              <a:rPr lang="de-DE" dirty="0"/>
              <a:t> / </a:t>
            </a:r>
            <a:r>
              <a:rPr lang="de-DE" dirty="0" err="1"/>
              <a:t>always</a:t>
            </a:r>
            <a:r>
              <a:rPr lang="de-DE" dirty="0"/>
              <a:t> : </a:t>
            </a:r>
          </a:p>
          <a:p>
            <a:r>
              <a:rPr lang="de-DE" dirty="0"/>
              <a:t>block = normale Tasks </a:t>
            </a:r>
          </a:p>
          <a:p>
            <a:r>
              <a:rPr lang="de-DE" dirty="0" err="1"/>
              <a:t>rescue</a:t>
            </a:r>
            <a:r>
              <a:rPr lang="de-DE" dirty="0"/>
              <a:t> = </a:t>
            </a:r>
            <a:r>
              <a:rPr lang="de-DE" dirty="0" err="1"/>
              <a:t>Fehlberbehandlung</a:t>
            </a:r>
            <a:r>
              <a:rPr lang="de-DE" dirty="0"/>
              <a:t> </a:t>
            </a:r>
          </a:p>
          <a:p>
            <a:r>
              <a:rPr lang="de-DE" dirty="0" err="1"/>
              <a:t>always</a:t>
            </a:r>
            <a:r>
              <a:rPr lang="de-DE" dirty="0"/>
              <a:t> = wird immer ausgeführt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12006A-1DA5-7E77-02DB-F9A4F19211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08C189-5D53-216D-B00A-BB9FE56D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E0D9DE-B5C5-6CC6-3C34-8D969F569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C06FD4-AAC8-8C42-5E3C-FD2BFE88E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57" y="1629000"/>
            <a:ext cx="4517571" cy="38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0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954F-A16C-E4CA-F3BA-8984FCB16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2F50934-EAF8-AD6C-BC04-9D329DDDA0A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5FC2FB-A324-2748-621F-602BC883BB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Failed_when</a:t>
            </a:r>
            <a:r>
              <a:rPr lang="de-DE" dirty="0"/>
              <a:t> : </a:t>
            </a:r>
          </a:p>
          <a:p>
            <a:r>
              <a:rPr lang="de-DE" dirty="0"/>
              <a:t>Eigene Fehlerbedingung definieren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E00AC6E-3CD5-0D4E-E31D-871D60B5A5D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F02660C-BDF9-7021-6CB2-484FC8993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7C04CB-AD51-4B72-D11D-8C9FC04A7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D76AA2-29C3-19A6-DA58-B62C837DD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60" y="3316730"/>
            <a:ext cx="5544616" cy="254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91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C42C-59A2-55F1-8073-CBFCB06D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19477D2-F72A-5D7C-4689-9C7B952CFFB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F1E8E5-7C49-00B7-2F6E-1A85684B33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When</a:t>
            </a:r>
            <a:r>
              <a:rPr lang="de-DE" dirty="0"/>
              <a:t> : </a:t>
            </a:r>
          </a:p>
          <a:p>
            <a:r>
              <a:rPr lang="de-DE" dirty="0"/>
              <a:t>Tasks nur ausführen, wenn Bedingungen erfüllt sind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47AA96-8C92-DDB5-073C-F1E5069D29D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BA1EB3-A1FE-6BF3-027B-F03D3CAB3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0CFA37-389D-6357-54AA-AD4AAB595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640C2BE-1A1F-B519-E541-98C4628A3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524" y="3261159"/>
            <a:ext cx="7038052" cy="24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3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5329-7F0B-5A1F-A77B-C1B069331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EF670CA-16AE-181C-863A-7CAC696F04E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830376-0225-C980-C744-EA8A5D9CD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Changed_when</a:t>
            </a:r>
            <a:r>
              <a:rPr lang="de-DE" dirty="0"/>
              <a:t> : </a:t>
            </a:r>
          </a:p>
          <a:p>
            <a:r>
              <a:rPr lang="de-DE" dirty="0"/>
              <a:t>Anpassen, wann </a:t>
            </a:r>
            <a:r>
              <a:rPr lang="de-DE" dirty="0" err="1"/>
              <a:t>Ansible</a:t>
            </a:r>
            <a:r>
              <a:rPr lang="de-DE" dirty="0"/>
              <a:t> eine Änderung meldet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332A3F-27D9-668F-7E73-3686A8CD43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8CCBF3-D386-86D0-F891-83BC62B81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70BC22-B0C4-D9C6-1C39-8A79DF3E4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9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4C77FB7-B8E5-2889-5C5D-EA45A8E4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08087"/>
            <a:ext cx="5184576" cy="269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0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11BC-9C3B-B323-9BC5-3BCDAE57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B6D173D-9FF5-C881-3587-469FA096775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BF5BB2-C1DD-DC44-DB1F-2992489B19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Fail-Modul </a:t>
            </a:r>
          </a:p>
          <a:p>
            <a:r>
              <a:rPr lang="de-DE" dirty="0"/>
              <a:t>Playbook gezielt abbrechen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9670DAD-AB25-8782-2DA7-6D2973847A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B1456AD-3FB5-6C4A-C3B6-E30BFAA43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DB4B5D-D225-5814-7F44-BECD48F34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F9A48E-F0FE-61E4-1CCD-D04CEF895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078" y="3022133"/>
            <a:ext cx="5498691" cy="183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7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EB5D0-E830-822D-9A35-6281E4B2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0C47E69-4184-8D88-8CAC-F95D8BF3A5B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sz="2800" dirty="0"/>
              <a:t>Szenario 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8673F8-1098-638F-B4CE-680BC4DDF0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4" y="1629000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Any_errors_fatal</a:t>
            </a:r>
            <a:r>
              <a:rPr lang="de-DE" dirty="0"/>
              <a:t>: </a:t>
            </a:r>
            <a:r>
              <a:rPr lang="de-DE" dirty="0" err="1"/>
              <a:t>true</a:t>
            </a:r>
            <a:endParaRPr lang="de-DE" dirty="0"/>
          </a:p>
          <a:p>
            <a:r>
              <a:rPr lang="de-DE" dirty="0"/>
              <a:t>gesamtes Playbook beendet, sobald ein Host einen Fehler hat.</a:t>
            </a:r>
          </a:p>
          <a:p>
            <a:pPr marL="0" indent="0">
              <a:buNone/>
            </a:pPr>
            <a:r>
              <a:rPr lang="de-DE" dirty="0" err="1"/>
              <a:t>Max_fail_percentage</a:t>
            </a:r>
            <a:r>
              <a:rPr lang="de-DE" dirty="0"/>
              <a:t>: 20 </a:t>
            </a:r>
          </a:p>
          <a:p>
            <a:r>
              <a:rPr lang="de-DE" dirty="0"/>
              <a:t>Das Playbook wird abgebrochen, wenn mehr als 20 % der Hosts fehlschlagen.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2844882-8F70-0E18-EA57-7B231F5812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889AF25-11C3-B570-2C7F-489DA3A98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1545811-0B59-A01A-D7C6-D37B0C748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36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C0230B2-7498-3C5D-0948-CD828728B47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836DD5-EF12-99D9-3E25-D0ECDF73C2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63D2B64-07AB-4121-B5F1-30457100281D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2E56F4-BDDE-8BC5-34F6-5E4857DF8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1DDE2E-1CED-FB0B-926A-8D5431D41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669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25BF4A5-7492-612B-BAC9-3EFC0D4ABBB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8937CB-3AE0-36F3-4F20-32909D122D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759950"/>
            <a:ext cx="7200000" cy="3600000"/>
          </a:xfrm>
        </p:spPr>
        <p:txBody>
          <a:bodyPr/>
          <a:lstStyle/>
          <a:p>
            <a:r>
              <a:rPr lang="de-DE" dirty="0"/>
              <a:t>Problem: Manuelle Dokumentation veraltet schnell </a:t>
            </a:r>
          </a:p>
          <a:p>
            <a:r>
              <a:rPr lang="de-DE" dirty="0"/>
              <a:t>Lösung: Automatisierte Erfassung von Systemdaten in Dateien</a:t>
            </a:r>
          </a:p>
          <a:p>
            <a:r>
              <a:rPr lang="de-DE" dirty="0"/>
              <a:t>Schaubild: </a:t>
            </a:r>
            <a:br>
              <a:rPr lang="de-DE" dirty="0"/>
            </a:br>
            <a:r>
              <a:rPr lang="de-DE" dirty="0"/>
              <a:t>Controller → SSH → Node01 / Node02 / Node03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93586A-5D4F-D9F0-0848-87EAAB7D0F6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206B9D-24BE-0832-C813-09FD51AD8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67D903-4591-B67A-DED9-53EA99ACD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6910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AEB1-7380-A6EA-F526-F37A7D19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B5CBD0E-0F10-D964-510D-91130B91254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DC5777-F85A-4AAA-5DD0-EBF04BB130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759950"/>
            <a:ext cx="7200000" cy="3600000"/>
          </a:xfrm>
        </p:spPr>
        <p:txBody>
          <a:bodyPr/>
          <a:lstStyle/>
          <a:p>
            <a:r>
              <a:rPr lang="de-DE" dirty="0"/>
              <a:t>Problem: Manuelle Dokumentation veraltet schnell </a:t>
            </a:r>
          </a:p>
          <a:p>
            <a:r>
              <a:rPr lang="de-DE" dirty="0"/>
              <a:t>Lösung: Automatisierte Erfassung von Systemdaten in Dateien</a:t>
            </a:r>
          </a:p>
          <a:p>
            <a:r>
              <a:rPr lang="de-DE" dirty="0"/>
              <a:t>Schaubild: </a:t>
            </a:r>
            <a:br>
              <a:rPr lang="de-DE" dirty="0"/>
            </a:br>
            <a:r>
              <a:rPr lang="de-DE" dirty="0"/>
              <a:t>Controller → SSH → Node01 / Node02 / Node03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2A64C5-5C2C-9AE9-3430-8D1FF10AE9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31883E-8A90-2DAD-0CDE-C6C7D133E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4248C6-EDD0-B252-2864-C926173A2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052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E28E24-697B-84C1-8E90-3A30083D1E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Was wird dokumentiert?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9E6B52-941D-A4BF-8967-4511102340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83171"/>
            <a:ext cx="7200000" cy="3600000"/>
          </a:xfrm>
        </p:spPr>
        <p:txBody>
          <a:bodyPr/>
          <a:lstStyle/>
          <a:p>
            <a:r>
              <a:rPr lang="de-DE" dirty="0"/>
              <a:t>Hostname – eindeutige Identifikation </a:t>
            </a:r>
          </a:p>
          <a:p>
            <a:r>
              <a:rPr lang="de-DE" dirty="0"/>
              <a:t>IP-Adresse – Erreichbarkeit im Netzwerk </a:t>
            </a:r>
          </a:p>
          <a:p>
            <a:r>
              <a:rPr lang="de-DE" dirty="0"/>
              <a:t>Betriebssystem + Version – Sicherheit, veraltete Systeme erkennen </a:t>
            </a:r>
          </a:p>
          <a:p>
            <a:r>
              <a:rPr lang="de-DE" dirty="0"/>
              <a:t>RAM + CPU-Kerne – Hardwareüberblick </a:t>
            </a:r>
          </a:p>
          <a:p>
            <a:r>
              <a:rPr lang="de-DE" dirty="0" err="1"/>
              <a:t>Timestamp</a:t>
            </a:r>
            <a:r>
              <a:rPr lang="de-DE" dirty="0"/>
              <a:t> – wann wurde zuletzt aktualisiert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B60D6D-F978-076C-16AD-4C8D38A2DB6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C151E5-B801-256E-0DC7-1F879042B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DBFC2D-5582-2BE3-FF81-01D31A6A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429D5C64-8416-C419-8A1D-387401067D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</p:spTree>
    <p:extLst>
      <p:ext uri="{BB962C8B-B14F-4D97-AF65-F5344CB8AC3E}">
        <p14:creationId xmlns:p14="http://schemas.microsoft.com/office/powerpoint/2010/main" val="268916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53B7-8DB0-C018-9DFD-1251B127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5A6EA4-B121-30B9-0680-6B5A4B9F53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Wie funktioniert es?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32341F-27D4-A722-D760-0B381B78B6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83171"/>
            <a:ext cx="7200000" cy="3600000"/>
          </a:xfrm>
        </p:spPr>
        <p:txBody>
          <a:bodyPr/>
          <a:lstStyle/>
          <a:p>
            <a:r>
              <a:rPr lang="de-DE" dirty="0" err="1"/>
              <a:t>Ansible</a:t>
            </a:r>
            <a:r>
              <a:rPr lang="de-DE" dirty="0"/>
              <a:t> verbindet sich per SSH mit jedem Node </a:t>
            </a:r>
          </a:p>
          <a:p>
            <a:r>
              <a:rPr lang="de-DE" dirty="0"/>
              <a:t>Modul </a:t>
            </a:r>
            <a:r>
              <a:rPr lang="de-DE" dirty="0" err="1"/>
              <a:t>ansible.builtin.setup</a:t>
            </a:r>
            <a:r>
              <a:rPr lang="de-DE" dirty="0"/>
              <a:t> sammelt automatisch alle Systeminfos </a:t>
            </a:r>
          </a:p>
          <a:p>
            <a:r>
              <a:rPr lang="de-DE" dirty="0"/>
              <a:t>Variablen </a:t>
            </a:r>
            <a:r>
              <a:rPr lang="de-DE" dirty="0" err="1"/>
              <a:t>bereitgestellen</a:t>
            </a:r>
            <a:r>
              <a:rPr lang="de-DE" dirty="0"/>
              <a:t> z.B. </a:t>
            </a:r>
            <a:r>
              <a:rPr lang="de-DE" dirty="0" err="1"/>
              <a:t>ansible_hostname</a:t>
            </a:r>
            <a:r>
              <a:rPr lang="de-DE" dirty="0"/>
              <a:t>, </a:t>
            </a:r>
            <a:r>
              <a:rPr lang="de-DE" dirty="0" err="1"/>
              <a:t>ansible_memtotal_mb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7033DD-0AEA-C035-C591-AB9D18FF19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B21989-3614-82D0-3CBB-42E3C7C53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FFFBA4-6EEE-AC04-C441-6950BED79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7DCDBBDF-86AD-87D0-7545-B305D96D13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</p:spTree>
    <p:extLst>
      <p:ext uri="{BB962C8B-B14F-4D97-AF65-F5344CB8AC3E}">
        <p14:creationId xmlns:p14="http://schemas.microsoft.com/office/powerpoint/2010/main" val="113280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0724-6905-BFA3-DA1E-8A620AB9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52BFF6-48E3-CA29-028A-80443FD5CDF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Das Template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76814C-3B32-F48C-B5F2-6647B7E34F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83171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# Netzwerkdokumentation</a:t>
            </a:r>
          </a:p>
          <a:p>
            <a:pPr marL="0" indent="0">
              <a:buNone/>
            </a:pPr>
            <a:r>
              <a:rPr lang="de-DE" dirty="0"/>
              <a:t>Aktualisiert: {{ ansible_date_time.iso8601 }}</a:t>
            </a:r>
          </a:p>
          <a:p>
            <a:pPr marL="0" indent="0">
              <a:buNone/>
            </a:pPr>
            <a:r>
              <a:rPr lang="de-DE" dirty="0"/>
              <a:t>## {{ </a:t>
            </a:r>
            <a:r>
              <a:rPr lang="de-DE" dirty="0" err="1"/>
              <a:t>ansible_hostname</a:t>
            </a:r>
            <a:r>
              <a:rPr lang="de-DE" dirty="0"/>
              <a:t> }}</a:t>
            </a:r>
          </a:p>
          <a:p>
            <a:pPr marL="0" indent="0">
              <a:buNone/>
            </a:pPr>
            <a:r>
              <a:rPr lang="de-DE" dirty="0"/>
              <a:t>- IP: {{ ansible_default_ipv4.address }}</a:t>
            </a:r>
          </a:p>
          <a:p>
            <a:pPr marL="0" indent="0">
              <a:buNone/>
            </a:pPr>
            <a:r>
              <a:rPr lang="de-DE" dirty="0"/>
              <a:t>- OS: {{ </a:t>
            </a:r>
            <a:r>
              <a:rPr lang="de-DE" dirty="0" err="1"/>
              <a:t>ansible_distribution</a:t>
            </a:r>
            <a:r>
              <a:rPr lang="de-DE" dirty="0"/>
              <a:t> }} {{ </a:t>
            </a:r>
            <a:r>
              <a:rPr lang="de-DE" dirty="0" err="1"/>
              <a:t>ansible_distribution_version</a:t>
            </a:r>
            <a:r>
              <a:rPr lang="de-DE" dirty="0"/>
              <a:t> }}</a:t>
            </a:r>
          </a:p>
          <a:p>
            <a:pPr marL="0" indent="0">
              <a:buNone/>
            </a:pPr>
            <a:r>
              <a:rPr lang="de-DE" dirty="0"/>
              <a:t>- RAM: {{ </a:t>
            </a:r>
            <a:r>
              <a:rPr lang="de-DE" dirty="0" err="1"/>
              <a:t>ansible_memtotal_mb</a:t>
            </a:r>
            <a:r>
              <a:rPr lang="de-DE" dirty="0"/>
              <a:t> }} MB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D34537-9B7B-EED2-7308-41DA90D960A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2B412E-7A09-D2B1-412E-AB4A9070F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A6D4C3-4EFE-2C43-EAF8-5EA884729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4AE71D93-6CE2-F5F8-393E-FD906BFBD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</p:spTree>
    <p:extLst>
      <p:ext uri="{BB962C8B-B14F-4D97-AF65-F5344CB8AC3E}">
        <p14:creationId xmlns:p14="http://schemas.microsoft.com/office/powerpoint/2010/main" val="2218732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FB95-9DD5-613B-29E0-09E1049E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BF91CC-DBF2-B588-F3B5-52BE005CBBE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Das Template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D4BCD5-24D9-E657-D827-58607714F13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C882A2-1331-34FA-A096-B2974EBBD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2C1446-400C-CE90-9EA4-DBF4888C6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1A17E2FF-8B1D-CD74-ED34-E8DA324FF4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576F4C-0E5B-6E9E-1485-2481524BD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1531563"/>
            <a:ext cx="10174928" cy="421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38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11A2-D97F-8129-70C6-E8FD3EF0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5CDA0-CDA4-D127-B682-93DDCD96022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Das Playbook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AB3721-84FC-3080-1BC1-725F0D6353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83171"/>
            <a:ext cx="7200000" cy="3600000"/>
          </a:xfrm>
        </p:spPr>
        <p:txBody>
          <a:bodyPr/>
          <a:lstStyle/>
          <a:p>
            <a:r>
              <a:rPr lang="de-DE" dirty="0"/>
              <a:t>Zwei Tasks erklären: 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Task 1: Ordner erstellen mit </a:t>
            </a:r>
            <a:r>
              <a:rPr lang="de-DE" dirty="0" err="1">
                <a:solidFill>
                  <a:schemeClr val="bg1"/>
                </a:solidFill>
              </a:rPr>
              <a:t>ansible.builtin.file</a:t>
            </a:r>
            <a:br>
              <a:rPr lang="de-DE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  <a:p>
            <a:pPr lvl="1"/>
            <a:r>
              <a:rPr lang="de-DE" dirty="0">
                <a:solidFill>
                  <a:schemeClr val="bg1"/>
                </a:solidFill>
              </a:rPr>
              <a:t>Task 2: Template befüllen und auf Node speichern mit </a:t>
            </a:r>
            <a:r>
              <a:rPr lang="de-DE" dirty="0" err="1">
                <a:solidFill>
                  <a:schemeClr val="bg1"/>
                </a:solidFill>
              </a:rPr>
              <a:t>ansible.builtin.template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CAB64D-DB78-CCB3-8F17-D176575B9F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519E1A-5D49-9A75-A877-1C4A5EE2F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1E0B40-BD77-4651-71BB-A9B52B164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87DF48C7-75E1-9E96-6E88-9C16934E09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8FE0103-1F75-9343-3C69-8B901DCA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4997627"/>
            <a:ext cx="6713068" cy="74774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BEA82CA-B68E-F20C-95A9-732DAF66BE0B}"/>
              </a:ext>
            </a:extLst>
          </p:cNvPr>
          <p:cNvSpPr txBox="1"/>
          <p:nvPr/>
        </p:nvSpPr>
        <p:spPr>
          <a:xfrm>
            <a:off x="1458400" y="4039224"/>
            <a:ext cx="927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sudo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ansible</a:t>
            </a:r>
            <a:r>
              <a:rPr lang="de-DE" dirty="0">
                <a:solidFill>
                  <a:schemeClr val="bg1"/>
                </a:solidFill>
              </a:rPr>
              <a:t> 192.168.56.11 -i /</a:t>
            </a:r>
            <a:r>
              <a:rPr lang="de-DE" dirty="0" err="1">
                <a:solidFill>
                  <a:schemeClr val="bg1"/>
                </a:solidFill>
              </a:rPr>
              <a:t>home</a:t>
            </a:r>
            <a:r>
              <a:rPr lang="de-DE" dirty="0">
                <a:solidFill>
                  <a:schemeClr val="bg1"/>
                </a:solidFill>
              </a:rPr>
              <a:t>/</a:t>
            </a:r>
            <a:r>
              <a:rPr lang="de-DE" dirty="0" err="1">
                <a:solidFill>
                  <a:schemeClr val="bg1"/>
                </a:solidFill>
              </a:rPr>
              <a:t>ansible_quickstart</a:t>
            </a:r>
            <a:r>
              <a:rPr lang="de-DE" dirty="0">
                <a:solidFill>
                  <a:schemeClr val="bg1"/>
                </a:solidFill>
              </a:rPr>
              <a:t>/inventory.ini -m </a:t>
            </a:r>
            <a:r>
              <a:rPr lang="de-DE" dirty="0" err="1">
                <a:solidFill>
                  <a:schemeClr val="bg1"/>
                </a:solidFill>
              </a:rPr>
              <a:t>command</a:t>
            </a:r>
            <a:r>
              <a:rPr lang="de-DE" dirty="0">
                <a:solidFill>
                  <a:schemeClr val="bg1"/>
                </a:solidFill>
              </a:rPr>
              <a:t> -a "</a:t>
            </a:r>
            <a:r>
              <a:rPr lang="de-DE" dirty="0" err="1">
                <a:solidFill>
                  <a:schemeClr val="bg1"/>
                </a:solidFill>
              </a:rPr>
              <a:t>cat</a:t>
            </a:r>
            <a:r>
              <a:rPr lang="de-DE" dirty="0">
                <a:solidFill>
                  <a:schemeClr val="bg1"/>
                </a:solidFill>
              </a:rPr>
              <a:t> /</a:t>
            </a:r>
            <a:r>
              <a:rPr lang="de-DE" dirty="0" err="1">
                <a:solidFill>
                  <a:schemeClr val="bg1"/>
                </a:solidFill>
              </a:rPr>
              <a:t>var</a:t>
            </a:r>
            <a:r>
              <a:rPr lang="de-DE" dirty="0">
                <a:solidFill>
                  <a:schemeClr val="bg1"/>
                </a:solidFill>
              </a:rPr>
              <a:t>/team-</a:t>
            </a:r>
            <a:r>
              <a:rPr lang="de-DE" dirty="0" err="1">
                <a:solidFill>
                  <a:schemeClr val="bg1"/>
                </a:solidFill>
              </a:rPr>
              <a:t>documentation</a:t>
            </a:r>
            <a:r>
              <a:rPr lang="de-DE" dirty="0">
                <a:solidFill>
                  <a:schemeClr val="bg1"/>
                </a:solidFill>
              </a:rPr>
              <a:t>/</a:t>
            </a:r>
            <a:r>
              <a:rPr lang="de-DE" dirty="0" err="1">
                <a:solidFill>
                  <a:schemeClr val="bg1"/>
                </a:solidFill>
              </a:rPr>
              <a:t>documentation</a:t>
            </a:r>
            <a:r>
              <a:rPr lang="de-DE" dirty="0">
                <a:solidFill>
                  <a:schemeClr val="bg1"/>
                </a:solidFill>
              </a:rPr>
              <a:t>/ansible-node01.md" --</a:t>
            </a:r>
            <a:r>
              <a:rPr lang="de-DE" dirty="0" err="1">
                <a:solidFill>
                  <a:schemeClr val="bg1"/>
                </a:solidFill>
              </a:rPr>
              <a:t>become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17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2071-4761-EBC5-33B9-8BD1B3DBD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15D1EB-8A00-2272-7CAC-A42B21F9D75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Automatisierung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840399-1C8E-2ADA-E069-0DBDB5A6E7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83171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0 * * * * </a:t>
            </a:r>
            <a:r>
              <a:rPr lang="de-DE" dirty="0" err="1"/>
              <a:t>ansible-playbook</a:t>
            </a:r>
            <a:r>
              <a:rPr lang="de-DE" dirty="0"/>
              <a:t> -i /</a:t>
            </a:r>
            <a:r>
              <a:rPr lang="de-DE" dirty="0" err="1"/>
              <a:t>home</a:t>
            </a:r>
            <a:r>
              <a:rPr lang="de-DE" dirty="0"/>
              <a:t>/</a:t>
            </a:r>
            <a:r>
              <a:rPr lang="de-DE" dirty="0" err="1"/>
              <a:t>ansible_quickstart</a:t>
            </a:r>
            <a:r>
              <a:rPr lang="de-DE" dirty="0"/>
              <a:t>/inventory.ini /</a:t>
            </a:r>
            <a:r>
              <a:rPr lang="de-DE" dirty="0" err="1"/>
              <a:t>var</a:t>
            </a:r>
            <a:r>
              <a:rPr lang="de-DE" dirty="0"/>
              <a:t>/team-</a:t>
            </a:r>
            <a:r>
              <a:rPr lang="de-DE" dirty="0" err="1"/>
              <a:t>documentation</a:t>
            </a:r>
            <a:r>
              <a:rPr lang="de-DE" dirty="0"/>
              <a:t>/</a:t>
            </a:r>
            <a:r>
              <a:rPr lang="de-DE" dirty="0" err="1"/>
              <a:t>documentation.yml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0FA8FC-1284-4354-3E8D-8F2B42A71F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D75C06-9DBF-12A7-D13C-1C37C56C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5DEFFC-2CDB-7F1C-AC82-70887A818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20</a:t>
            </a:fld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0FBC3E5-F3E1-7178-6A38-E9577E68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3131846"/>
            <a:ext cx="4457929" cy="1600282"/>
          </a:xfrm>
          <a:prstGeom prst="rect">
            <a:avLst/>
          </a:prstGeom>
        </p:spPr>
      </p:pic>
      <p:sp>
        <p:nvSpPr>
          <p:cNvPr id="16" name="Inhaltsplatzhalter 1">
            <a:extLst>
              <a:ext uri="{FF2B5EF4-FFF2-40B4-BE49-F238E27FC236}">
                <a16:creationId xmlns:a16="http://schemas.microsoft.com/office/drawing/2014/main" id="{6389FB3D-8844-A8CA-CFB8-3C5C41445A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</p:spTree>
    <p:extLst>
      <p:ext uri="{BB962C8B-B14F-4D97-AF65-F5344CB8AC3E}">
        <p14:creationId xmlns:p14="http://schemas.microsoft.com/office/powerpoint/2010/main" val="3475267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743E-FA37-9EB6-50A9-9C7BB9EC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3E05F3-A778-2DEE-78A3-7245489DB2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6000" y="939099"/>
            <a:ext cx="7200000" cy="432000"/>
          </a:xfrm>
        </p:spPr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17E123-179C-607D-C2E0-A72D9A85D9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83171"/>
            <a:ext cx="7200000" cy="36000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Ansible</a:t>
            </a:r>
            <a:r>
              <a:rPr lang="de-DE" dirty="0"/>
              <a:t> Facts + Jinja2 Template + </a:t>
            </a:r>
            <a:r>
              <a:rPr lang="de-DE" dirty="0" err="1"/>
              <a:t>Cronjob</a:t>
            </a:r>
            <a:r>
              <a:rPr lang="de-DE" dirty="0"/>
              <a:t> = vollautomatische Dokumentation </a:t>
            </a:r>
          </a:p>
          <a:p>
            <a:pPr marL="0" indent="0">
              <a:buNone/>
            </a:pPr>
            <a:r>
              <a:rPr lang="de-DE" dirty="0"/>
              <a:t>Skalierbar: neue Nodes einfach ins </a:t>
            </a:r>
            <a:r>
              <a:rPr lang="de-DE" dirty="0" err="1"/>
              <a:t>Inventory</a:t>
            </a:r>
            <a:r>
              <a:rPr lang="de-DE" dirty="0"/>
              <a:t> eintragen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02C8C6-1192-B751-0711-9FD2EE67835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94B214-1EC4-4E65-EB36-14FEDD5FB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3D1393-14AC-E46E-3732-E398623D3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99FCE4FE-247D-3F2A-B6BD-484DF85AC5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96000" y="195027"/>
            <a:ext cx="9000000" cy="432000"/>
          </a:xfrm>
        </p:spPr>
        <p:txBody>
          <a:bodyPr/>
          <a:lstStyle/>
          <a:p>
            <a:r>
              <a:rPr lang="de-DE" dirty="0"/>
              <a:t>Automatisierte Netzwerkdokumentation</a:t>
            </a:r>
          </a:p>
        </p:txBody>
      </p:sp>
    </p:spTree>
    <p:extLst>
      <p:ext uri="{BB962C8B-B14F-4D97-AF65-F5344CB8AC3E}">
        <p14:creationId xmlns:p14="http://schemas.microsoft.com/office/powerpoint/2010/main" val="569816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5CA6A4C-1DD9-4505-8FF0-C50A2EFC7F2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Joel.Valentino@it.nrw.de</a:t>
            </a:r>
            <a:endParaRPr lang="de-DE" dirty="0"/>
          </a:p>
          <a:p>
            <a:r>
              <a:rPr lang="de-DE" dirty="0">
                <a:hlinkClick r:id="rId3"/>
              </a:rPr>
              <a:t>Matthias.Lenk@it.nrw.de</a:t>
            </a:r>
            <a:endParaRPr lang="de-DE" dirty="0"/>
          </a:p>
          <a:p>
            <a:r>
              <a:rPr lang="de-DE" dirty="0">
                <a:hlinkClick r:id="rId4"/>
              </a:rPr>
              <a:t>Oguzarslan.Kuecuek@it.nrw.de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1F3415-611D-4E85-99F0-25302075C2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A49E275-10C6-4BDB-AD30-7691A99BCBE9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B82ECB-87E1-429D-B765-60B626341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Gruppe </a:t>
            </a:r>
            <a:r>
              <a:rPr lang="el-GR" dirty="0"/>
              <a:t>λ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8BFC74-C9B5-4634-A36E-AE659FF56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88512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folie">
  <a:themeElements>
    <a:clrScheme name="ITNRW_2024">
      <a:dk1>
        <a:srgbClr val="131E35"/>
      </a:dk1>
      <a:lt1>
        <a:sysClr val="window" lastClr="FFFFFF"/>
      </a:lt1>
      <a:dk2>
        <a:srgbClr val="131E35"/>
      </a:dk2>
      <a:lt2>
        <a:srgbClr val="9AB3DF"/>
      </a:lt2>
      <a:accent1>
        <a:srgbClr val="009FE3"/>
      </a:accent1>
      <a:accent2>
        <a:srgbClr val="00689E"/>
      </a:accent2>
      <a:accent3>
        <a:srgbClr val="A1A3A6"/>
      </a:accent3>
      <a:accent4>
        <a:srgbClr val="A0C300"/>
      </a:accent4>
      <a:accent5>
        <a:srgbClr val="00477D"/>
      </a:accent5>
      <a:accent6>
        <a:srgbClr val="00A8B4"/>
      </a:accent6>
      <a:hlink>
        <a:srgbClr val="D0B5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Breitbild</PresentationFormat>
  <Paragraphs>159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Arial-BoldMT</vt:lpstr>
      <vt:lpstr>Calibri</vt:lpstr>
      <vt:lpstr>Basisfolie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Bonrath, Daniel (IT.NRW)</dc:creator>
  <cp:lastModifiedBy>Kücük Oguz Arslan</cp:lastModifiedBy>
  <cp:revision>53</cp:revision>
  <dcterms:created xsi:type="dcterms:W3CDTF">2024-01-05T11:59:58Z</dcterms:created>
  <dcterms:modified xsi:type="dcterms:W3CDTF">2026-06-12T12:01:38Z</dcterms:modified>
</cp:coreProperties>
</file>