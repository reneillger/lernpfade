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8" r:id="rId3"/>
    <p:sldId id="261" r:id="rId4"/>
    <p:sldId id="259" r:id="rId5"/>
    <p:sldId id="260" r:id="rId6"/>
    <p:sldId id="263" r:id="rId7"/>
    <p:sldId id="267" r:id="rId8"/>
    <p:sldId id="274" r:id="rId9"/>
    <p:sldId id="275" r:id="rId10"/>
    <p:sldId id="278" r:id="rId11"/>
    <p:sldId id="276" r:id="rId12"/>
    <p:sldId id="277" r:id="rId13"/>
    <p:sldId id="279" r:id="rId14"/>
    <p:sldId id="280" r:id="rId15"/>
    <p:sldId id="264" r:id="rId16"/>
    <p:sldId id="266" r:id="rId17"/>
    <p:sldId id="265" r:id="rId18"/>
    <p:sldId id="281" r:id="rId19"/>
    <p:sldId id="257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5E4C3390-7E18-4791-B443-D12510DB6716}">
          <p14:sldIdLst>
            <p14:sldId id="256"/>
            <p14:sldId id="258"/>
            <p14:sldId id="261"/>
            <p14:sldId id="259"/>
            <p14:sldId id="260"/>
            <p14:sldId id="263"/>
            <p14:sldId id="267"/>
            <p14:sldId id="274"/>
            <p14:sldId id="275"/>
            <p14:sldId id="278"/>
            <p14:sldId id="276"/>
            <p14:sldId id="277"/>
            <p14:sldId id="279"/>
            <p14:sldId id="280"/>
            <p14:sldId id="264"/>
            <p14:sldId id="266"/>
            <p14:sldId id="265"/>
            <p14:sldId id="281"/>
          </p14:sldIdLst>
        </p14:section>
        <p14:section name="Abschnitt ohne Titel" id="{4CB2AC72-FA4A-4720-BAED-BF40B4B5AED0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05s04 (Schulungsuser04 in Raum205)" initials="2(iR" lastIdx="1" clrIdx="0">
    <p:extLst>
      <p:ext uri="{19B8F6BF-5375-455C-9EA6-DF929625EA0E}">
        <p15:presenceInfo xmlns:p15="http://schemas.microsoft.com/office/powerpoint/2012/main" userId="S-1-5-21-2205603816-2279483498-66706570-956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E3"/>
    <a:srgbClr val="131E35"/>
    <a:srgbClr val="9AB3DF"/>
    <a:srgbClr val="223761"/>
    <a:srgbClr val="1B55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3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2" d="100"/>
          <a:sy n="122" d="100"/>
        </p:scale>
        <p:origin x="499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7F549302-594F-4029-842E-72C4297466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50AE34B-8B53-462B-95F5-AC12DCC2B0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398686-FEC8-43C8-A774-1106C2C758FD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B0344CB-C543-44C9-B366-171503AEDB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F86FEED-95C2-4DF0-8AB0-4FC0BABC36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FB9F7-1493-4C74-BC63-8184218A07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21474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9E5D7-9B6A-499D-963D-ECC13A179235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89185-512F-4442-BDEA-E75DA3B5AD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9144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6">
            <a:extLst>
              <a:ext uri="{FF2B5EF4-FFF2-40B4-BE49-F238E27FC236}">
                <a16:creationId xmlns:a16="http://schemas.microsoft.com/office/drawing/2014/main" id="{3EFD1A67-A7DC-4BC2-9780-105286EF3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640EE6C-F26F-4A64-970D-E2248644E332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3" name="Fußzeilenplatzhalter 7">
            <a:extLst>
              <a:ext uri="{FF2B5EF4-FFF2-40B4-BE49-F238E27FC236}">
                <a16:creationId xmlns:a16="http://schemas.microsoft.com/office/drawing/2014/main" id="{F4D0A61F-A2B0-4942-AC8A-B57FA1ACB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4" name="Foliennummernplatzhalter 9">
            <a:extLst>
              <a:ext uri="{FF2B5EF4-FFF2-40B4-BE49-F238E27FC236}">
                <a16:creationId xmlns:a16="http://schemas.microsoft.com/office/drawing/2014/main" id="{FECD752B-357D-49F7-82C6-4442CB40D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9058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-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097ACFF-159C-41CD-B5F5-257E74C335D6}"/>
              </a:ext>
            </a:extLst>
          </p:cNvPr>
          <p:cNvSpPr/>
          <p:nvPr userDrawn="1"/>
        </p:nvSpPr>
        <p:spPr>
          <a:xfrm>
            <a:off x="0" y="0"/>
            <a:ext cx="12192000" cy="1259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Inhaltsplatzhalter 11">
            <a:extLst>
              <a:ext uri="{FF2B5EF4-FFF2-40B4-BE49-F238E27FC236}">
                <a16:creationId xmlns:a16="http://schemas.microsoft.com/office/drawing/2014/main" id="{F0716F6C-1FEA-48D9-A629-90DC68191AD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52371" y="1989000"/>
            <a:ext cx="9525789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Präsentationstitel 44pt</a:t>
            </a:r>
          </a:p>
        </p:txBody>
      </p:sp>
      <p:sp>
        <p:nvSpPr>
          <p:cNvPr id="7" name="Inhaltsplatzhalter 11">
            <a:extLst>
              <a:ext uri="{FF2B5EF4-FFF2-40B4-BE49-F238E27FC236}">
                <a16:creationId xmlns:a16="http://schemas.microsoft.com/office/drawing/2014/main" id="{0B79B800-1F4C-4020-AD36-03A6005776E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52371" y="3449320"/>
            <a:ext cx="9525789" cy="183116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 b="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Untertitel 28pt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DBB6D62-9021-406C-87D2-AFB905AFFE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7839" y="141744"/>
            <a:ext cx="2414225" cy="926672"/>
          </a:xfrm>
          <a:prstGeom prst="rect">
            <a:avLst/>
          </a:prstGeom>
        </p:spPr>
      </p:pic>
      <p:sp>
        <p:nvSpPr>
          <p:cNvPr id="9" name="Datumsplatzhalter 6">
            <a:extLst>
              <a:ext uri="{FF2B5EF4-FFF2-40B4-BE49-F238E27FC236}">
                <a16:creationId xmlns:a16="http://schemas.microsoft.com/office/drawing/2014/main" id="{90F1BF02-9A8F-408C-89A2-BA889DA12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00F94C6-F80F-4976-8F6B-0BAEDC531DBD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10" name="Fußzeilenplatzhalter 7">
            <a:extLst>
              <a:ext uri="{FF2B5EF4-FFF2-40B4-BE49-F238E27FC236}">
                <a16:creationId xmlns:a16="http://schemas.microsoft.com/office/drawing/2014/main" id="{FCCCA04C-CC81-453D-B35A-DDBCCA3CA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11" name="Foliennummernplatzhalter 9">
            <a:extLst>
              <a:ext uri="{FF2B5EF4-FFF2-40B4-BE49-F238E27FC236}">
                <a16:creationId xmlns:a16="http://schemas.microsoft.com/office/drawing/2014/main" id="{DE42C5E0-7967-4753-9066-3DBEB2DAD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2557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097ACFF-159C-41CD-B5F5-257E74C335D6}"/>
              </a:ext>
            </a:extLst>
          </p:cNvPr>
          <p:cNvSpPr/>
          <p:nvPr userDrawn="1"/>
        </p:nvSpPr>
        <p:spPr>
          <a:xfrm>
            <a:off x="0" y="0"/>
            <a:ext cx="12192000" cy="1259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Inhaltsplatzhalter 11">
            <a:extLst>
              <a:ext uri="{FF2B5EF4-FFF2-40B4-BE49-F238E27FC236}">
                <a16:creationId xmlns:a16="http://schemas.microsoft.com/office/drawing/2014/main" id="{F0716F6C-1FEA-48D9-A629-90DC68191AD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96000" y="2909713"/>
            <a:ext cx="5776064" cy="30243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Vorname Nachname</a:t>
            </a:r>
          </a:p>
          <a:p>
            <a:pPr lvl="0"/>
            <a:r>
              <a:rPr lang="de-DE" dirty="0"/>
              <a:t>Servicebündel</a:t>
            </a:r>
          </a:p>
          <a:p>
            <a:pPr lvl="0"/>
            <a:r>
              <a:rPr lang="de-DE" dirty="0"/>
              <a:t>Telefon</a:t>
            </a:r>
          </a:p>
          <a:p>
            <a:pPr lvl="0"/>
            <a:r>
              <a:rPr lang="de-DE" dirty="0"/>
              <a:t>E-Mail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EC4BB12-23A3-4CD7-B7CA-FEE23F1B8663}"/>
              </a:ext>
            </a:extLst>
          </p:cNvPr>
          <p:cNvSpPr/>
          <p:nvPr userDrawn="1"/>
        </p:nvSpPr>
        <p:spPr>
          <a:xfrm>
            <a:off x="6099070" y="1833241"/>
            <a:ext cx="383076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4400" dirty="0">
                <a:solidFill>
                  <a:schemeClr val="bg1"/>
                </a:solidFill>
                <a:latin typeface="Arial-BoldMT"/>
              </a:rPr>
              <a:t>Kontakt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EFFBDC8-C276-4F13-BE32-CC746C96C5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7839" y="141744"/>
            <a:ext cx="2414225" cy="926672"/>
          </a:xfrm>
          <a:prstGeom prst="rect">
            <a:avLst/>
          </a:prstGeom>
        </p:spPr>
      </p:pic>
      <p:sp>
        <p:nvSpPr>
          <p:cNvPr id="10" name="Datumsplatzhalter 6">
            <a:extLst>
              <a:ext uri="{FF2B5EF4-FFF2-40B4-BE49-F238E27FC236}">
                <a16:creationId xmlns:a16="http://schemas.microsoft.com/office/drawing/2014/main" id="{6B8D0528-85A4-4DD9-A17C-67F052ED7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7550EA0-774F-49D7-A2EB-978D4C15FD1D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11" name="Fußzeilenplatzhalter 7">
            <a:extLst>
              <a:ext uri="{FF2B5EF4-FFF2-40B4-BE49-F238E27FC236}">
                <a16:creationId xmlns:a16="http://schemas.microsoft.com/office/drawing/2014/main" id="{0C7614D8-1ECF-4267-8CCB-AD0A91CEF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12" name="Foliennummernplatzhalter 9">
            <a:extLst>
              <a:ext uri="{FF2B5EF4-FFF2-40B4-BE49-F238E27FC236}">
                <a16:creationId xmlns:a16="http://schemas.microsoft.com/office/drawing/2014/main" id="{55D5997A-02CE-456E-A1D6-0ED1ADB99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471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96000" y="2709000"/>
            <a:ext cx="10800000" cy="1440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4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Zwischentitel 44pt</a:t>
            </a:r>
          </a:p>
        </p:txBody>
      </p:sp>
      <p:sp>
        <p:nvSpPr>
          <p:cNvPr id="3" name="Datumsplatzhalter 6">
            <a:extLst>
              <a:ext uri="{FF2B5EF4-FFF2-40B4-BE49-F238E27FC236}">
                <a16:creationId xmlns:a16="http://schemas.microsoft.com/office/drawing/2014/main" id="{D2F0291E-8CC7-466E-925E-EA0C70D415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A74225-2A10-4CAE-AAD1-911D2D0077E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4" name="Fußzeilenplatzhalter 7">
            <a:extLst>
              <a:ext uri="{FF2B5EF4-FFF2-40B4-BE49-F238E27FC236}">
                <a16:creationId xmlns:a16="http://schemas.microsoft.com/office/drawing/2014/main" id="{CABD5A4C-B943-4C2D-833E-93549E1906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5" name="Foliennummernplatzhalter 9">
            <a:extLst>
              <a:ext uri="{FF2B5EF4-FFF2-40B4-BE49-F238E27FC236}">
                <a16:creationId xmlns:a16="http://schemas.microsoft.com/office/drawing/2014/main" id="{F2C2401F-7728-4D73-8553-09899724C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4910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ießtext - Stichpunktliste (klei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596000" y="195027"/>
            <a:ext cx="9000000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496000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24pt</a:t>
            </a:r>
          </a:p>
        </p:txBody>
      </p:sp>
      <p:sp>
        <p:nvSpPr>
          <p:cNvPr id="7" name="Inhaltsplatzhalter 11">
            <a:extLst>
              <a:ext uri="{FF2B5EF4-FFF2-40B4-BE49-F238E27FC236}">
                <a16:creationId xmlns:a16="http://schemas.microsoft.com/office/drawing/2014/main" id="{06806908-C5D9-48F9-A721-23F36C36455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96000" y="2691171"/>
            <a:ext cx="7200000" cy="3600000"/>
          </a:xfrm>
          <a:prstGeom prst="rect">
            <a:avLst/>
          </a:prstGeom>
        </p:spPr>
        <p:txBody>
          <a:bodyPr/>
          <a:lstStyle>
            <a:lvl1pPr marL="182563" indent="-182563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Stichpunktliste 24pt</a:t>
            </a:r>
          </a:p>
          <a:p>
            <a:pPr lvl="0"/>
            <a:r>
              <a:rPr lang="de-DE" dirty="0"/>
              <a:t>Stichpunktliste 24pt</a:t>
            </a:r>
            <a:br>
              <a:rPr lang="de-DE" dirty="0"/>
            </a:br>
            <a:r>
              <a:rPr lang="de-DE" dirty="0"/>
              <a:t>Stichpunktliste 24pt</a:t>
            </a:r>
          </a:p>
          <a:p>
            <a:pPr lvl="0"/>
            <a:r>
              <a:rPr lang="de-DE" dirty="0"/>
              <a:t>Stichpunktliste 24pt</a:t>
            </a:r>
          </a:p>
        </p:txBody>
      </p:sp>
      <p:sp>
        <p:nvSpPr>
          <p:cNvPr id="5" name="Datumsplatzhalter 6">
            <a:extLst>
              <a:ext uri="{FF2B5EF4-FFF2-40B4-BE49-F238E27FC236}">
                <a16:creationId xmlns:a16="http://schemas.microsoft.com/office/drawing/2014/main" id="{620384E2-F29D-4CCE-84E1-8F867A393C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39B9514-792C-449E-B25C-72AD436E053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91E7F5B2-2BE4-4A60-A976-85788ADE3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8" name="Foliennummernplatzhalter 9">
            <a:extLst>
              <a:ext uri="{FF2B5EF4-FFF2-40B4-BE49-F238E27FC236}">
                <a16:creationId xmlns:a16="http://schemas.microsoft.com/office/drawing/2014/main" id="{07EB06A0-F248-4546-AEE0-58FDDC32B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435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ießtext - Stichpunktliste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596000" y="195027"/>
            <a:ext cx="9000000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496000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28pt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8047CEDC-513F-414F-82E8-6E7752FF15D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96000" y="2691171"/>
            <a:ext cx="7200000" cy="3600000"/>
          </a:xfrm>
          <a:prstGeom prst="rect">
            <a:avLst/>
          </a:prstGeom>
        </p:spPr>
        <p:txBody>
          <a:bodyPr/>
          <a:lstStyle>
            <a:lvl1pPr marL="182563" indent="-182563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Stichpunktliste 28pt</a:t>
            </a:r>
          </a:p>
          <a:p>
            <a:pPr lvl="0"/>
            <a:r>
              <a:rPr lang="de-DE" dirty="0"/>
              <a:t>Stichpunktliste 28pt</a:t>
            </a:r>
            <a:br>
              <a:rPr lang="de-DE" dirty="0"/>
            </a:br>
            <a:r>
              <a:rPr lang="de-DE" dirty="0"/>
              <a:t>Stichpunktliste 28pt</a:t>
            </a:r>
          </a:p>
          <a:p>
            <a:pPr lvl="0"/>
            <a:r>
              <a:rPr lang="de-DE" dirty="0"/>
              <a:t>Stichpunktliste 28pt</a:t>
            </a:r>
          </a:p>
        </p:txBody>
      </p:sp>
      <p:sp>
        <p:nvSpPr>
          <p:cNvPr id="5" name="Datumsplatzhalter 6">
            <a:extLst>
              <a:ext uri="{FF2B5EF4-FFF2-40B4-BE49-F238E27FC236}">
                <a16:creationId xmlns:a16="http://schemas.microsoft.com/office/drawing/2014/main" id="{6F23CDD6-30EB-40CE-96A5-93F5D93426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3694782-ED39-467D-AEED-00DB2F9A55C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EF8093B4-EB13-4315-8C57-0DB6BFB8A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7" name="Foliennummernplatzhalter 9">
            <a:extLst>
              <a:ext uri="{FF2B5EF4-FFF2-40B4-BE49-F238E27FC236}">
                <a16:creationId xmlns:a16="http://schemas.microsoft.com/office/drawing/2014/main" id="{BEF72785-7E8E-4AF4-BCDD-391A5D851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0448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-Kombinatio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11281" y="195027"/>
            <a:ext cx="7200001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11283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24pt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8047CEDC-513F-414F-82E8-6E7752FF15D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11283" y="2691171"/>
            <a:ext cx="7200000" cy="36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24pt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24pt</a:t>
            </a:r>
            <a:br>
              <a:rPr lang="de-DE" dirty="0"/>
            </a:br>
            <a:r>
              <a:rPr lang="de-DE" dirty="0"/>
              <a:t>Stichpunktliste 24pt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24pt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237088D3-FAF1-4938-B1B6-08A9D32D799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48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79537AB3-A61E-443F-A18B-746A79DB5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C19DE1-B7B6-41FD-9D95-F3B1D9DC0457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7" name="Fußzeilenplatzhalter 7">
            <a:extLst>
              <a:ext uri="{FF2B5EF4-FFF2-40B4-BE49-F238E27FC236}">
                <a16:creationId xmlns:a16="http://schemas.microsoft.com/office/drawing/2014/main" id="{AC23CC68-8FE4-4567-9EF6-988C28EAC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8" name="Foliennummernplatzhalter 9">
            <a:extLst>
              <a:ext uri="{FF2B5EF4-FFF2-40B4-BE49-F238E27FC236}">
                <a16:creationId xmlns:a16="http://schemas.microsoft.com/office/drawing/2014/main" id="{58371C85-0F0E-49D1-AD9F-DFEBAC062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919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-Kombinatio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07678" y="195027"/>
            <a:ext cx="7200001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07680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28pt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8047CEDC-513F-414F-82E8-6E7752FF15D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07680" y="2691171"/>
            <a:ext cx="7200000" cy="36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28pt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28pt</a:t>
            </a:r>
            <a:br>
              <a:rPr lang="de-DE" dirty="0"/>
            </a:br>
            <a:r>
              <a:rPr lang="de-DE" dirty="0"/>
              <a:t>Stichpunktliste 28pt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28pt</a:t>
            </a:r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4D55736F-683C-4C9F-AA3F-7A26B786991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48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78C930EE-0E16-451D-85AD-EFAD2ACF2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5C7789A-CA2C-48C5-90AB-8BBDD6232E75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7" name="Fußzeilenplatzhalter 7">
            <a:extLst>
              <a:ext uri="{FF2B5EF4-FFF2-40B4-BE49-F238E27FC236}">
                <a16:creationId xmlns:a16="http://schemas.microsoft.com/office/drawing/2014/main" id="{BABCF8FC-0D4C-4514-BC45-DE4CB0A66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9" name="Foliennummernplatzhalter 9">
            <a:extLst>
              <a:ext uri="{FF2B5EF4-FFF2-40B4-BE49-F238E27FC236}">
                <a16:creationId xmlns:a16="http://schemas.microsoft.com/office/drawing/2014/main" id="{0A60CCC6-C6AC-4000-B18D-7E88F4C4B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6173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tych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4D55736F-683C-4C9F-AA3F-7A26B786991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48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4" name="Bildplatzhalter 2">
            <a:extLst>
              <a:ext uri="{FF2B5EF4-FFF2-40B4-BE49-F238E27FC236}">
                <a16:creationId xmlns:a16="http://schemas.microsoft.com/office/drawing/2014/main" id="{C39630C9-1EB0-4914-B2D4-A540325E979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92996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8" name="Bildplatzhalter 2">
            <a:extLst>
              <a:ext uri="{FF2B5EF4-FFF2-40B4-BE49-F238E27FC236}">
                <a16:creationId xmlns:a16="http://schemas.microsoft.com/office/drawing/2014/main" id="{B13C3ABD-763E-4DF8-8259-179A53B2A19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86439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0" name="Inhaltsplatzhalter 11">
            <a:extLst>
              <a:ext uri="{FF2B5EF4-FFF2-40B4-BE49-F238E27FC236}">
                <a16:creationId xmlns:a16="http://schemas.microsoft.com/office/drawing/2014/main" id="{7488189E-432C-4173-B00B-F452E50FFDD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54842" y="5557850"/>
            <a:ext cx="3495431" cy="1080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20pt</a:t>
            </a:r>
          </a:p>
        </p:txBody>
      </p:sp>
      <p:sp>
        <p:nvSpPr>
          <p:cNvPr id="21" name="Inhaltsplatzhalter 11">
            <a:extLst>
              <a:ext uri="{FF2B5EF4-FFF2-40B4-BE49-F238E27FC236}">
                <a16:creationId xmlns:a16="http://schemas.microsoft.com/office/drawing/2014/main" id="{10966445-108C-4A76-91A3-08C7D06CBCD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47986" y="5557850"/>
            <a:ext cx="3495431" cy="1080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20pt</a:t>
            </a:r>
          </a:p>
        </p:txBody>
      </p:sp>
      <p:sp>
        <p:nvSpPr>
          <p:cNvPr id="22" name="Inhaltsplatzhalter 11">
            <a:extLst>
              <a:ext uri="{FF2B5EF4-FFF2-40B4-BE49-F238E27FC236}">
                <a16:creationId xmlns:a16="http://schemas.microsoft.com/office/drawing/2014/main" id="{46717A0A-3AD4-4764-955F-CB198751296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441130" y="5557850"/>
            <a:ext cx="3495431" cy="1080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20pt</a:t>
            </a:r>
          </a:p>
        </p:txBody>
      </p:sp>
      <p:sp>
        <p:nvSpPr>
          <p:cNvPr id="9" name="Datumsplatzhalter 6">
            <a:extLst>
              <a:ext uri="{FF2B5EF4-FFF2-40B4-BE49-F238E27FC236}">
                <a16:creationId xmlns:a16="http://schemas.microsoft.com/office/drawing/2014/main" id="{19E7513C-A497-4D72-8E38-8E5AEAF7CD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B2306E6-7E5D-4DEC-A392-F7D0B4EFCFC5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10" name="Fußzeilenplatzhalter 7">
            <a:extLst>
              <a:ext uri="{FF2B5EF4-FFF2-40B4-BE49-F238E27FC236}">
                <a16:creationId xmlns:a16="http://schemas.microsoft.com/office/drawing/2014/main" id="{627AC99E-18CF-4889-B9AE-BE293B27E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11" name="Foliennummernplatzhalter 9">
            <a:extLst>
              <a:ext uri="{FF2B5EF4-FFF2-40B4-BE49-F238E27FC236}">
                <a16:creationId xmlns:a16="http://schemas.microsoft.com/office/drawing/2014/main" id="{F76B6652-0667-42B0-BADE-F95C02482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75865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8D5E680-3D6F-4A6B-BD13-B12991546F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5" t="21569" r="19998" b="34"/>
          <a:stretch/>
        </p:blipFill>
        <p:spPr>
          <a:xfrm>
            <a:off x="-16329" y="0"/>
            <a:ext cx="12246430" cy="6854952"/>
          </a:xfrm>
          <a:prstGeom prst="rect">
            <a:avLst/>
          </a:prstGeom>
        </p:spPr>
      </p:pic>
      <p:sp>
        <p:nvSpPr>
          <p:cNvPr id="6" name="Inhaltsplatzhalter 11">
            <a:extLst>
              <a:ext uri="{FF2B5EF4-FFF2-40B4-BE49-F238E27FC236}">
                <a16:creationId xmlns:a16="http://schemas.microsoft.com/office/drawing/2014/main" id="{11A6582B-198A-43DB-97E7-9A07761E8F6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96000" y="1256718"/>
            <a:ext cx="10800000" cy="43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5400">
                <a:solidFill>
                  <a:srgbClr val="9AB3DF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„Zitatfolie 54pt“</a:t>
            </a:r>
          </a:p>
        </p:txBody>
      </p:sp>
      <p:sp>
        <p:nvSpPr>
          <p:cNvPr id="8" name="Inhaltsplatzhalter 11">
            <a:extLst>
              <a:ext uri="{FF2B5EF4-FFF2-40B4-BE49-F238E27FC236}">
                <a16:creationId xmlns:a16="http://schemas.microsoft.com/office/drawing/2014/main" id="{5AF14CC7-0BA0-4C72-9790-93155E544AC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96000" y="5601282"/>
            <a:ext cx="10800000" cy="43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rgbClr val="9AB3DF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Name Zitatgeber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9B5C52F-1A1F-43FE-9691-01F1D1D032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E0A5CC9-3172-4EE7-A96B-0D2827C2A6AA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9" name="Fußzeilenplatzhalter 7">
            <a:extLst>
              <a:ext uri="{FF2B5EF4-FFF2-40B4-BE49-F238E27FC236}">
                <a16:creationId xmlns:a16="http://schemas.microsoft.com/office/drawing/2014/main" id="{70B1C080-3252-4EA6-817A-2400E298E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377AEC-4DCE-44C5-94EE-ED06CE268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42690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58409" y="766976"/>
            <a:ext cx="540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20pt</a:t>
            </a:r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4763F371-AB6B-430C-A040-C20089E6B7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58409" y="2709829"/>
            <a:ext cx="540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24pt</a:t>
            </a:r>
          </a:p>
        </p:txBody>
      </p:sp>
      <p:sp>
        <p:nvSpPr>
          <p:cNvPr id="18" name="Inhaltsplatzhalter 11">
            <a:extLst>
              <a:ext uri="{FF2B5EF4-FFF2-40B4-BE49-F238E27FC236}">
                <a16:creationId xmlns:a16="http://schemas.microsoft.com/office/drawing/2014/main" id="{F14117A1-E274-406B-9CC9-B7C88A5AA4D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58409" y="4652682"/>
            <a:ext cx="540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28pt</a:t>
            </a:r>
          </a:p>
        </p:txBody>
      </p:sp>
      <p:sp>
        <p:nvSpPr>
          <p:cNvPr id="19" name="Inhaltsplatzhalter 11">
            <a:extLst>
              <a:ext uri="{FF2B5EF4-FFF2-40B4-BE49-F238E27FC236}">
                <a16:creationId xmlns:a16="http://schemas.microsoft.com/office/drawing/2014/main" id="{23A91483-761E-4971-8987-FA73FED1314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429835" y="773452"/>
            <a:ext cx="144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16pt</a:t>
            </a:r>
          </a:p>
        </p:txBody>
      </p:sp>
      <p:sp>
        <p:nvSpPr>
          <p:cNvPr id="20" name="Inhaltsplatzhalter 11">
            <a:extLst>
              <a:ext uri="{FF2B5EF4-FFF2-40B4-BE49-F238E27FC236}">
                <a16:creationId xmlns:a16="http://schemas.microsoft.com/office/drawing/2014/main" id="{E9F2D1BD-4E20-4C38-B364-0B24BFCC84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741261" y="773453"/>
            <a:ext cx="144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20pt</a:t>
            </a:r>
          </a:p>
        </p:txBody>
      </p:sp>
      <p:sp>
        <p:nvSpPr>
          <p:cNvPr id="7" name="Inhaltsplatzhalter 11">
            <a:extLst>
              <a:ext uri="{FF2B5EF4-FFF2-40B4-BE49-F238E27FC236}">
                <a16:creationId xmlns:a16="http://schemas.microsoft.com/office/drawing/2014/main" id="{C6CC954D-0B9E-4F3D-B3F5-C0B2B9748F0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429835" y="2709828"/>
            <a:ext cx="1440000" cy="1438341"/>
          </a:xfrm>
          <a:prstGeom prst="roundRect">
            <a:avLst>
              <a:gd name="adj" fmla="val 50000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16pt</a:t>
            </a:r>
          </a:p>
        </p:txBody>
      </p:sp>
      <p:sp>
        <p:nvSpPr>
          <p:cNvPr id="8" name="Inhaltsplatzhalter 11">
            <a:extLst>
              <a:ext uri="{FF2B5EF4-FFF2-40B4-BE49-F238E27FC236}">
                <a16:creationId xmlns:a16="http://schemas.microsoft.com/office/drawing/2014/main" id="{540C84A1-6DBE-415E-80E4-CD3A6D42164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356781" y="2709829"/>
            <a:ext cx="2232000" cy="2229429"/>
          </a:xfrm>
          <a:prstGeom prst="roundRect">
            <a:avLst>
              <a:gd name="adj" fmla="val 50000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20pt</a:t>
            </a:r>
          </a:p>
        </p:txBody>
      </p:sp>
      <p:sp>
        <p:nvSpPr>
          <p:cNvPr id="9" name="Datumsplatzhalter 6">
            <a:extLst>
              <a:ext uri="{FF2B5EF4-FFF2-40B4-BE49-F238E27FC236}">
                <a16:creationId xmlns:a16="http://schemas.microsoft.com/office/drawing/2014/main" id="{92E9C889-9056-4900-9914-BF3BE3A398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E8E755D-20BC-4767-9C0B-47BD7AFD0967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10" name="Fußzeilenplatzhalter 7">
            <a:extLst>
              <a:ext uri="{FF2B5EF4-FFF2-40B4-BE49-F238E27FC236}">
                <a16:creationId xmlns:a16="http://schemas.microsoft.com/office/drawing/2014/main" id="{4E05B679-C7C0-4584-A184-CC009F746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11" name="Foliennummernplatzhalter 9">
            <a:extLst>
              <a:ext uri="{FF2B5EF4-FFF2-40B4-BE49-F238E27FC236}">
                <a16:creationId xmlns:a16="http://schemas.microsoft.com/office/drawing/2014/main" id="{87EF1F89-D768-4BB5-80C1-A2E3C79A2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1271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/PNG- Text-Kombi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11281" y="195027"/>
            <a:ext cx="7200001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11283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24pt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8047CEDC-513F-414F-82E8-6E7752FF15D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11283" y="2691171"/>
            <a:ext cx="7200000" cy="36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24pt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24pt</a:t>
            </a:r>
            <a:br>
              <a:rPr lang="de-DE" dirty="0"/>
            </a:br>
            <a:r>
              <a:rPr lang="de-DE" dirty="0"/>
              <a:t>Stichpunktliste 24pt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24pt</a:t>
            </a:r>
          </a:p>
        </p:txBody>
      </p:sp>
      <p:sp>
        <p:nvSpPr>
          <p:cNvPr id="7" name="Inhaltsplatzhalter 11">
            <a:extLst>
              <a:ext uri="{FF2B5EF4-FFF2-40B4-BE49-F238E27FC236}">
                <a16:creationId xmlns:a16="http://schemas.microsoft.com/office/drawing/2014/main" id="{3F284A65-15CD-400B-83B9-533D6DE11D0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07842" y="2058772"/>
            <a:ext cx="2743617" cy="2740456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317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131E35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transparente.png-Datei</a:t>
            </a:r>
            <a:br>
              <a:rPr lang="de-DE" dirty="0"/>
            </a:br>
            <a:r>
              <a:rPr lang="de-DE" dirty="0"/>
              <a:t>einfügen</a:t>
            </a:r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F7627E31-DBD5-48D8-938A-B64440C8F5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69BB12B-0982-4408-8CA5-3E97BD96FB5A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682B91D-9E2F-4FF9-B566-0022F3CD0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9" name="Foliennummernplatzhalter 9">
            <a:extLst>
              <a:ext uri="{FF2B5EF4-FFF2-40B4-BE49-F238E27FC236}">
                <a16:creationId xmlns:a16="http://schemas.microsoft.com/office/drawing/2014/main" id="{E98D8522-93BD-42CE-B97D-2FBF8678C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0091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23761"/>
            </a:gs>
            <a:gs pos="73000">
              <a:srgbClr val="131E3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3">
            <a:extLst>
              <a:ext uri="{FF2B5EF4-FFF2-40B4-BE49-F238E27FC236}">
                <a16:creationId xmlns:a16="http://schemas.microsoft.com/office/drawing/2014/main" id="{BC7E4C8D-5CAB-4D9F-80D8-A5909E6A8158}"/>
              </a:ext>
            </a:extLst>
          </p:cNvPr>
          <p:cNvSpPr txBox="1">
            <a:spLocks/>
          </p:cNvSpPr>
          <p:nvPr userDrawn="1"/>
        </p:nvSpPr>
        <p:spPr>
          <a:xfrm>
            <a:off x="1096079" y="6492873"/>
            <a:ext cx="7219581" cy="365122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3FAE9D41-E32C-4D8F-8FA2-2B57B0D212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96AF53-A4EF-4F4E-86FB-C871477991C1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9" name="Fußzeilenplatzhalter 7">
            <a:extLst>
              <a:ext uri="{FF2B5EF4-FFF2-40B4-BE49-F238E27FC236}">
                <a16:creationId xmlns:a16="http://schemas.microsoft.com/office/drawing/2014/main" id="{6DEE7113-C451-4C20-A9C4-4ED131DD70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6AA57366-A697-42DF-930F-C8F555721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952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7" r:id="rId2"/>
    <p:sldLayoutId id="2147483668" r:id="rId3"/>
    <p:sldLayoutId id="2147483649" r:id="rId4"/>
    <p:sldLayoutId id="2147483651" r:id="rId5"/>
    <p:sldLayoutId id="2147483650" r:id="rId6"/>
    <p:sldLayoutId id="2147483654" r:id="rId7"/>
    <p:sldLayoutId id="2147483655" r:id="rId8"/>
    <p:sldLayoutId id="2147483657" r:id="rId9"/>
    <p:sldLayoutId id="2147483652" r:id="rId10"/>
    <p:sldLayoutId id="2147483656" r:id="rId11"/>
    <p:sldLayoutId id="214748366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Simon.hitze@it.nrw.de" TargetMode="External"/><Relationship Id="rId2" Type="http://schemas.openxmlformats.org/officeDocument/2006/relationships/hyperlink" Target="mailto:tobias.becker@it.nrw.de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C41D9F2-B998-4D1D-9F3B-97125445885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 err="1"/>
              <a:t>Ansible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C081FBB-9D5B-45F5-9BF1-C1D02F67C85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DE" dirty="0"/>
              <a:t>Team </a:t>
            </a:r>
            <a:r>
              <a:rPr lang="el-GR" dirty="0"/>
              <a:t>δ</a:t>
            </a:r>
            <a:r>
              <a:rPr lang="de-DE" dirty="0"/>
              <a:t> – </a:t>
            </a:r>
            <a:r>
              <a:rPr lang="de-DE" dirty="0" err="1"/>
              <a:t>Ansible</a:t>
            </a:r>
            <a:r>
              <a:rPr lang="de-DE" dirty="0"/>
              <a:t> </a:t>
            </a:r>
            <a:r>
              <a:rPr lang="de-DE" dirty="0" err="1"/>
              <a:t>Vault</a:t>
            </a:r>
            <a:r>
              <a:rPr lang="de-DE" dirty="0"/>
              <a:t> 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5D44E95-9FCF-4A00-ABBC-42C698C5AA7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800D84F-7D76-455A-8738-61D3315C8E82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5ADDFA4-ED7D-4F5F-AD85-CF5E56BBD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4BAD43-FD97-4E27-B717-718CE367B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283325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35F41E8-EFED-4925-A9E6-AE12716DCD1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99B1401-A419-41CE-A072-0FF61AAA27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973777"/>
            <a:ext cx="7200000" cy="5317394"/>
          </a:xfrm>
        </p:spPr>
        <p:txBody>
          <a:bodyPr/>
          <a:lstStyle/>
          <a:p>
            <a:r>
              <a:rPr lang="de-DE" dirty="0"/>
              <a:t>Tag 1: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Fehlerbehebung und Warm Up</a:t>
            </a:r>
          </a:p>
          <a:p>
            <a:r>
              <a:rPr lang="de-DE" dirty="0"/>
              <a:t>Tag 2: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Automatisierung-Szenarien und Deep Dive</a:t>
            </a:r>
          </a:p>
          <a:p>
            <a:r>
              <a:rPr lang="de-DE" dirty="0"/>
              <a:t>Tag 3: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PPP und Retro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3BDB5D-27BE-4B75-AA76-3E4AD26EAF1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C44EBA8-0722-40E1-BD71-A254FDA09BE6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F26781-15FB-4D25-8A60-D187FD9DE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EA7E28-4452-412C-A12E-F8888BC9A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468918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B488879B-7C27-49E4-8FE1-5B77D80603E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Tag 1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53299A4-932B-4073-9D46-A0A45CE5915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38D4D89-C9A2-4F91-BDBC-370E068D4FB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330D44-F159-428C-98E7-D1E001718E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CB8F3AB-85EC-464A-9836-50ADA8F56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439214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5AE1FAE-8191-4B88-B186-C61A535AD32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Tag 1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9791C69-3871-4A90-A740-F566077F8F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1294411"/>
            <a:ext cx="7200000" cy="4996760"/>
          </a:xfrm>
        </p:spPr>
        <p:txBody>
          <a:bodyPr/>
          <a:lstStyle/>
          <a:p>
            <a:r>
              <a:rPr lang="de-DE" dirty="0" err="1"/>
              <a:t>Virtualization</a:t>
            </a:r>
            <a:r>
              <a:rPr lang="de-DE" dirty="0"/>
              <a:t> im UEFI aktivieren</a:t>
            </a:r>
          </a:p>
          <a:p>
            <a:r>
              <a:rPr lang="de-DE" dirty="0"/>
              <a:t>Tastatur-Layout von US zu DE ändern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Befehl: </a:t>
            </a:r>
            <a:r>
              <a:rPr lang="de-DE" dirty="0" err="1">
                <a:solidFill>
                  <a:schemeClr val="bg1"/>
                </a:solidFill>
              </a:rPr>
              <a:t>sudo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nano</a:t>
            </a:r>
            <a:r>
              <a:rPr lang="de-DE" dirty="0">
                <a:solidFill>
                  <a:schemeClr val="bg1"/>
                </a:solidFill>
              </a:rPr>
              <a:t> /</a:t>
            </a:r>
            <a:r>
              <a:rPr lang="de-DE" dirty="0" err="1">
                <a:solidFill>
                  <a:schemeClr val="bg1"/>
                </a:solidFill>
              </a:rPr>
              <a:t>etc</a:t>
            </a:r>
            <a:r>
              <a:rPr lang="de-DE" dirty="0">
                <a:solidFill>
                  <a:schemeClr val="bg1"/>
                </a:solidFill>
              </a:rPr>
              <a:t>/</a:t>
            </a:r>
            <a:r>
              <a:rPr lang="de-DE" dirty="0" err="1">
                <a:solidFill>
                  <a:schemeClr val="bg1"/>
                </a:solidFill>
              </a:rPr>
              <a:t>default</a:t>
            </a:r>
            <a:r>
              <a:rPr lang="de-DE" dirty="0">
                <a:solidFill>
                  <a:schemeClr val="bg1"/>
                </a:solidFill>
              </a:rPr>
              <a:t>/</a:t>
            </a:r>
            <a:r>
              <a:rPr lang="de-DE" dirty="0" err="1">
                <a:solidFill>
                  <a:schemeClr val="bg1"/>
                </a:solidFill>
              </a:rPr>
              <a:t>keyboard</a:t>
            </a:r>
            <a:endParaRPr lang="de-DE" dirty="0">
              <a:solidFill>
                <a:schemeClr val="bg1"/>
              </a:solidFill>
            </a:endParaRPr>
          </a:p>
          <a:p>
            <a:pPr lvl="1"/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6F3D38F-BBC2-40A9-B9C3-0AFDEB568E3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9230C85-1DA2-4FCB-BFCB-30D2964D2676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2383E9-928F-4DA6-BB92-6B8506A4E5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61976C4-D102-4F1C-A233-F7785721A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4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204C3B4-66CE-4681-8328-83FA74835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083" y="3141022"/>
            <a:ext cx="4409828" cy="2498902"/>
          </a:xfrm>
          <a:prstGeom prst="rect">
            <a:avLst/>
          </a:prstGeom>
        </p:spPr>
      </p:pic>
      <p:sp>
        <p:nvSpPr>
          <p:cNvPr id="10" name="Inhaltsplatzhalter 7">
            <a:extLst>
              <a:ext uri="{FF2B5EF4-FFF2-40B4-BE49-F238E27FC236}">
                <a16:creationId xmlns:a16="http://schemas.microsoft.com/office/drawing/2014/main" id="{67B3B86E-2D8F-4726-AE89-B514EC71B63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30686" y="662653"/>
            <a:ext cx="7200000" cy="596131"/>
          </a:xfrm>
        </p:spPr>
        <p:txBody>
          <a:bodyPr/>
          <a:lstStyle/>
          <a:p>
            <a:pPr algn="ctr"/>
            <a:r>
              <a:rPr lang="de-DE" dirty="0"/>
              <a:t>Start und Fehlerbehebung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57170E5-CA50-4523-A729-83AA3D59E0D9}"/>
              </a:ext>
            </a:extLst>
          </p:cNvPr>
          <p:cNvSpPr/>
          <p:nvPr/>
        </p:nvSpPr>
        <p:spPr>
          <a:xfrm>
            <a:off x="3203643" y="4254230"/>
            <a:ext cx="1725038" cy="2010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48958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C77B18-842A-40AC-A22B-98C76B5F742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96000" y="939099"/>
            <a:ext cx="7200000" cy="527504"/>
          </a:xfrm>
        </p:spPr>
        <p:txBody>
          <a:bodyPr/>
          <a:lstStyle/>
          <a:p>
            <a:r>
              <a:rPr lang="de-DE" dirty="0"/>
              <a:t>Vertraut machen mit </a:t>
            </a:r>
            <a:r>
              <a:rPr lang="de-DE" dirty="0" err="1"/>
              <a:t>Ansible</a:t>
            </a:r>
            <a:r>
              <a:rPr lang="de-DE" dirty="0"/>
              <a:t> und Warm Up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802B93-2525-4A81-A18E-B6817077999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1960838"/>
            <a:ext cx="7200000" cy="2009269"/>
          </a:xfrm>
        </p:spPr>
        <p:txBody>
          <a:bodyPr/>
          <a:lstStyle/>
          <a:p>
            <a:r>
              <a:rPr lang="de-DE" dirty="0"/>
              <a:t>Pings</a:t>
            </a:r>
          </a:p>
          <a:p>
            <a:r>
              <a:rPr lang="de-DE" dirty="0"/>
              <a:t>Systemdaten</a:t>
            </a:r>
          </a:p>
          <a:p>
            <a:r>
              <a:rPr lang="de-DE" dirty="0" err="1"/>
              <a:t>Git</a:t>
            </a:r>
            <a:r>
              <a:rPr lang="de-DE" dirty="0"/>
              <a:t>-Installation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43135FC-48F3-4FBB-8172-A65F4572CD8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A3B5819-4ABC-460A-957F-701ED428A6B8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505D8A-68F5-4D55-8FDB-3B6BDBB150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6C138F-4FF7-426C-9012-F80FF5994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871583A-60E7-4AEC-8C36-96999051459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Tag 1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5BD3F458-CAB7-44A8-A652-3735175F7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976" y="4204938"/>
            <a:ext cx="7668048" cy="182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5296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04313CB-F174-4577-9785-9C4775885EB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Tag 2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9A30B95-DF9A-4851-A447-8CE7CA62E90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E944112-035E-44AB-92CD-028AF687874C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7C09F1-5515-4B66-88EA-5AA966263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EC51A53-601D-494F-9F60-68D5204B8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83608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D8959FA-D177-472E-A4BB-AB6EA95A4AD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Tag 2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1003E31-D7F1-4419-8C07-29049F96C2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1953491"/>
            <a:ext cx="7200000" cy="4337680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Was ist </a:t>
            </a:r>
            <a:r>
              <a:rPr lang="de-DE" b="1" dirty="0" err="1"/>
              <a:t>Ansible</a:t>
            </a:r>
            <a:r>
              <a:rPr lang="de-DE" b="1" dirty="0"/>
              <a:t> </a:t>
            </a:r>
            <a:r>
              <a:rPr lang="de-DE" b="1" dirty="0" err="1"/>
              <a:t>Vault</a:t>
            </a:r>
            <a:r>
              <a:rPr lang="de-DE" b="1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Verschlüsselt sensible Daten in </a:t>
            </a:r>
            <a:r>
              <a:rPr lang="de-DE" dirty="0" err="1"/>
              <a:t>Ansible</a:t>
            </a:r>
            <a:r>
              <a:rPr lang="de-DE" dirty="0"/>
              <a:t>-Projekten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Schützt Passwörter, API-Keys und Zugangsdaten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Verhindert die Speicherung im Klartext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035A179-96EF-489D-843D-1202BBB68FF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69F942F-AE30-4C5F-997E-A289CA9E0FAA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B06C04F-AC68-4226-985F-A4EE2A891C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8EE4220-140E-4116-846E-25E47F410E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6F42F14-6F27-4407-AED3-9E4E2493F50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96000" y="939099"/>
            <a:ext cx="7200000" cy="1440000"/>
          </a:xfrm>
        </p:spPr>
        <p:txBody>
          <a:bodyPr/>
          <a:lstStyle/>
          <a:p>
            <a:r>
              <a:rPr lang="de-DE" dirty="0"/>
              <a:t>Deep Dive – </a:t>
            </a:r>
            <a:r>
              <a:rPr lang="de-DE" dirty="0" err="1"/>
              <a:t>Ansible</a:t>
            </a:r>
            <a:r>
              <a:rPr lang="de-DE" dirty="0"/>
              <a:t> </a:t>
            </a:r>
            <a:r>
              <a:rPr lang="de-DE" dirty="0" err="1"/>
              <a:t>Vault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138918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A807B46-1900-4CA3-94A5-1F717704BD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Tag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983B88-2B3D-4C56-BF46-55C0CF7074F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DE" dirty="0"/>
              <a:t>Deep Dive – </a:t>
            </a:r>
            <a:r>
              <a:rPr lang="de-DE" dirty="0" err="1"/>
              <a:t>Ansible</a:t>
            </a:r>
            <a:r>
              <a:rPr lang="de-DE" dirty="0"/>
              <a:t> </a:t>
            </a:r>
            <a:r>
              <a:rPr lang="de-DE" dirty="0" err="1"/>
              <a:t>Vault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F2D97A6-1F39-41A3-865F-876A45CB09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1828800"/>
            <a:ext cx="7200000" cy="4462371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Warum?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erhöht die Sicherheit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geeignet für sicher Automatisierung mit höheren Berechtigungen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schützt vertrauliche Informationen vor unbefugtem Zugriff </a:t>
            </a:r>
            <a:r>
              <a:rPr lang="de-DE" dirty="0">
                <a:sym typeface="Wingdings" panose="05000000000000000000" pitchFamily="2" charset="2"/>
              </a:rPr>
              <a:t> Verschlüsselung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706E8F-3606-4768-A8B2-C294C60535F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3694782-ED39-467D-AEED-00DB2F9A55C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6C8C5E2-1C72-48A9-8710-478A2777F8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EF70BC-6BF6-4950-B1D6-A58C7972C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13361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AF753DF-E429-470C-9C93-8E8A569B217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Tag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C70AA6-4BCC-4DCF-A5BA-FCCB340783C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DE" dirty="0"/>
              <a:t>Deep Dive – </a:t>
            </a:r>
            <a:r>
              <a:rPr lang="de-DE" dirty="0" err="1"/>
              <a:t>Ansible</a:t>
            </a:r>
            <a:r>
              <a:rPr lang="de-DE" dirty="0"/>
              <a:t> </a:t>
            </a:r>
            <a:r>
              <a:rPr lang="de-DE" dirty="0" err="1"/>
              <a:t>Vault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A7CBB1D-8F1E-46EA-AEE7-FABC0CE27B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1668483"/>
            <a:ext cx="7200000" cy="4622688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Funktionsweise</a:t>
            </a:r>
          </a:p>
          <a:p>
            <a:pPr>
              <a:buFont typeface="+mj-lt"/>
              <a:buAutoNum type="arabicPeriod"/>
            </a:pPr>
            <a:r>
              <a:rPr lang="de-DE" dirty="0"/>
              <a:t> Datei mit sensiblen Daten erstellen </a:t>
            </a:r>
          </a:p>
          <a:p>
            <a:pPr>
              <a:buFont typeface="+mj-lt"/>
              <a:buAutoNum type="arabicPeriod"/>
            </a:pPr>
            <a:r>
              <a:rPr lang="de-DE" dirty="0"/>
              <a:t> Mit </a:t>
            </a:r>
            <a:r>
              <a:rPr lang="de-DE" dirty="0" err="1"/>
              <a:t>Ansible</a:t>
            </a:r>
            <a:r>
              <a:rPr lang="de-DE" dirty="0"/>
              <a:t> </a:t>
            </a:r>
            <a:r>
              <a:rPr lang="de-DE" dirty="0" err="1"/>
              <a:t>Vault</a:t>
            </a:r>
            <a:r>
              <a:rPr lang="de-DE" dirty="0"/>
              <a:t> verschlüsseln 			</a:t>
            </a:r>
            <a:r>
              <a:rPr lang="de-DE" dirty="0">
                <a:sym typeface="Wingdings" panose="05000000000000000000" pitchFamily="2" charset="2"/>
              </a:rPr>
              <a:t> kein Klartext</a:t>
            </a:r>
            <a:endParaRPr lang="de-DE" dirty="0"/>
          </a:p>
          <a:p>
            <a:pPr>
              <a:buFont typeface="+mj-lt"/>
              <a:buAutoNum type="arabicPeriod"/>
            </a:pPr>
            <a:r>
              <a:rPr lang="de-DE" dirty="0"/>
              <a:t> Im </a:t>
            </a:r>
            <a:r>
              <a:rPr lang="de-DE" dirty="0" err="1"/>
              <a:t>Playbook</a:t>
            </a:r>
            <a:r>
              <a:rPr lang="de-DE" dirty="0"/>
              <a:t> verwenden </a:t>
            </a:r>
          </a:p>
          <a:p>
            <a:pPr>
              <a:buFont typeface="+mj-lt"/>
              <a:buAutoNum type="arabicPeriod"/>
            </a:pPr>
            <a:r>
              <a:rPr lang="de-DE" dirty="0"/>
              <a:t> </a:t>
            </a:r>
            <a:r>
              <a:rPr lang="de-DE" dirty="0" err="1"/>
              <a:t>Vault</a:t>
            </a:r>
            <a:r>
              <a:rPr lang="de-DE" dirty="0"/>
              <a:t>-Passwort beim Ausführen eingeben</a:t>
            </a:r>
          </a:p>
          <a:p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E9F960-7B29-4EE3-8D03-E105CCC585B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3694782-ED39-467D-AEED-00DB2F9A55C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8CD8B7-0BC5-4379-BB5D-EBF1B4A945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2AD5AB4-BF17-45A0-9D08-1E98DBC11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4495992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9D9E54E-9E39-4828-9870-B2FBB38B772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Tag 2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C07A15-BCEF-45CD-A52E-CA5049A45BA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2006930"/>
            <a:ext cx="7200000" cy="4284241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Umsetzung:</a:t>
            </a:r>
          </a:p>
          <a:p>
            <a:r>
              <a:rPr lang="de-DE" dirty="0"/>
              <a:t>Anlegen: </a:t>
            </a:r>
            <a:r>
              <a:rPr lang="de-DE" dirty="0" err="1"/>
              <a:t>sudo</a:t>
            </a:r>
            <a:r>
              <a:rPr lang="de-DE" dirty="0"/>
              <a:t> </a:t>
            </a:r>
            <a:r>
              <a:rPr lang="de-DE" dirty="0" err="1"/>
              <a:t>ansible-vault</a:t>
            </a:r>
            <a:r>
              <a:rPr lang="de-DE" dirty="0"/>
              <a:t> </a:t>
            </a:r>
            <a:r>
              <a:rPr lang="de-DE" dirty="0" err="1">
                <a:solidFill>
                  <a:srgbClr val="00B050"/>
                </a:solidFill>
              </a:rPr>
              <a:t>create</a:t>
            </a:r>
            <a:r>
              <a:rPr lang="de-DE" dirty="0"/>
              <a:t> </a:t>
            </a:r>
            <a:r>
              <a:rPr lang="de-DE" dirty="0" err="1"/>
              <a:t>vars</a:t>
            </a:r>
            <a:r>
              <a:rPr lang="de-DE" dirty="0"/>
              <a:t>/</a:t>
            </a:r>
            <a:r>
              <a:rPr lang="de-DE" dirty="0" err="1"/>
              <a:t>secrets.yml</a:t>
            </a:r>
            <a:endParaRPr lang="de-DE" dirty="0"/>
          </a:p>
          <a:p>
            <a:r>
              <a:rPr lang="de-DE" dirty="0"/>
              <a:t>Ansehen: </a:t>
            </a:r>
            <a:r>
              <a:rPr lang="de-DE" dirty="0" err="1"/>
              <a:t>sudo</a:t>
            </a:r>
            <a:r>
              <a:rPr lang="de-DE" dirty="0"/>
              <a:t> </a:t>
            </a:r>
            <a:r>
              <a:rPr lang="de-DE" dirty="0" err="1"/>
              <a:t>ansible-vault</a:t>
            </a:r>
            <a:r>
              <a:rPr lang="de-DE" dirty="0"/>
              <a:t> </a:t>
            </a:r>
            <a:r>
              <a:rPr lang="de-DE" dirty="0" err="1">
                <a:solidFill>
                  <a:srgbClr val="00B050"/>
                </a:solidFill>
              </a:rPr>
              <a:t>view</a:t>
            </a:r>
            <a:r>
              <a:rPr lang="de-DE" dirty="0"/>
              <a:t> </a:t>
            </a:r>
            <a:r>
              <a:rPr lang="de-DE" dirty="0" err="1"/>
              <a:t>vars</a:t>
            </a:r>
            <a:r>
              <a:rPr lang="de-DE" dirty="0"/>
              <a:t>/</a:t>
            </a:r>
            <a:r>
              <a:rPr lang="de-DE" dirty="0" err="1"/>
              <a:t>secrets.yml</a:t>
            </a:r>
            <a:endParaRPr lang="de-DE" dirty="0"/>
          </a:p>
          <a:p>
            <a:r>
              <a:rPr lang="de-DE" dirty="0"/>
              <a:t>Bearbeiten: </a:t>
            </a:r>
            <a:r>
              <a:rPr lang="de-DE" dirty="0" err="1"/>
              <a:t>sudo</a:t>
            </a:r>
            <a:r>
              <a:rPr lang="de-DE" dirty="0"/>
              <a:t> </a:t>
            </a:r>
            <a:r>
              <a:rPr lang="de-DE" dirty="0" err="1"/>
              <a:t>ansible-vault</a:t>
            </a:r>
            <a:r>
              <a:rPr lang="de-DE" dirty="0"/>
              <a:t> </a:t>
            </a:r>
            <a:r>
              <a:rPr lang="de-DE" dirty="0" err="1">
                <a:solidFill>
                  <a:srgbClr val="00B050"/>
                </a:solidFill>
              </a:rPr>
              <a:t>edit</a:t>
            </a:r>
            <a:r>
              <a:rPr lang="de-DE" dirty="0"/>
              <a:t> </a:t>
            </a:r>
            <a:r>
              <a:rPr lang="de-DE" dirty="0" err="1"/>
              <a:t>vars</a:t>
            </a:r>
            <a:r>
              <a:rPr lang="de-DE" dirty="0"/>
              <a:t>/</a:t>
            </a:r>
            <a:r>
              <a:rPr lang="de-DE" dirty="0" err="1"/>
              <a:t>secrets.yml</a:t>
            </a:r>
            <a:endParaRPr lang="de-DE" dirty="0"/>
          </a:p>
          <a:p>
            <a:endParaRPr lang="de-DE" dirty="0"/>
          </a:p>
          <a:p>
            <a:r>
              <a:rPr lang="de-DE" dirty="0"/>
              <a:t> 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FCDAC6D-5DB1-4096-9CB4-2FCA28B11EA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3694782-ED39-467D-AEED-00DB2F9A55C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196577-32D6-4FAD-B5BB-2155949087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C658C9-C3CB-4823-B9D9-67200FF49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B2ADAFB7-5C3B-40CC-87DD-E39FBAB2DD0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95550" y="939800"/>
            <a:ext cx="7200900" cy="1439863"/>
          </a:xfrm>
        </p:spPr>
        <p:txBody>
          <a:bodyPr/>
          <a:lstStyle/>
          <a:p>
            <a:r>
              <a:rPr lang="de-DE" dirty="0"/>
              <a:t>Deep Dive – </a:t>
            </a:r>
            <a:r>
              <a:rPr lang="de-DE" dirty="0" err="1"/>
              <a:t>Ansible</a:t>
            </a:r>
            <a:r>
              <a:rPr lang="de-DE" dirty="0"/>
              <a:t> </a:t>
            </a:r>
            <a:r>
              <a:rPr lang="de-DE" dirty="0" err="1"/>
              <a:t>Vault</a:t>
            </a:r>
            <a:endParaRPr lang="de-DE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E4589B1C-732F-4D88-9B25-883638FD71AA}"/>
              </a:ext>
            </a:extLst>
          </p:cNvPr>
          <p:cNvSpPr txBox="1">
            <a:spLocks/>
          </p:cNvSpPr>
          <p:nvPr/>
        </p:nvSpPr>
        <p:spPr>
          <a:xfrm>
            <a:off x="2495550" y="2726861"/>
            <a:ext cx="7200900" cy="14398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Arial-BoldM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dirty="0"/>
              <a:t>verschlüsseln: </a:t>
            </a:r>
            <a:r>
              <a:rPr lang="de-DE" dirty="0" err="1"/>
              <a:t>sudo</a:t>
            </a:r>
            <a:r>
              <a:rPr lang="de-DE" dirty="0"/>
              <a:t> </a:t>
            </a:r>
            <a:r>
              <a:rPr lang="de-DE" dirty="0" err="1"/>
              <a:t>ansible-vault</a:t>
            </a:r>
            <a:r>
              <a:rPr lang="de-DE" dirty="0"/>
              <a:t> </a:t>
            </a:r>
            <a:r>
              <a:rPr lang="de-DE" dirty="0" err="1">
                <a:solidFill>
                  <a:srgbClr val="00B050"/>
                </a:solidFill>
              </a:rPr>
              <a:t>encrypt</a:t>
            </a:r>
            <a:r>
              <a:rPr lang="de-DE" dirty="0"/>
              <a:t> </a:t>
            </a:r>
            <a:r>
              <a:rPr lang="de-DE" dirty="0" err="1"/>
              <a:t>vars</a:t>
            </a:r>
            <a:r>
              <a:rPr lang="de-DE" dirty="0"/>
              <a:t>/</a:t>
            </a:r>
            <a:r>
              <a:rPr lang="de-DE" dirty="0" err="1"/>
              <a:t>secrets.yml</a:t>
            </a:r>
            <a:endParaRPr lang="de-DE" dirty="0"/>
          </a:p>
          <a:p>
            <a:endParaRPr lang="de-DE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dirty="0"/>
              <a:t>Entschlüsseln: </a:t>
            </a:r>
            <a:r>
              <a:rPr lang="de-DE" dirty="0" err="1"/>
              <a:t>sudo</a:t>
            </a:r>
            <a:r>
              <a:rPr lang="de-DE" dirty="0"/>
              <a:t> </a:t>
            </a:r>
            <a:r>
              <a:rPr lang="de-DE" dirty="0" err="1"/>
              <a:t>ansible-vault</a:t>
            </a:r>
            <a:r>
              <a:rPr lang="de-DE" dirty="0"/>
              <a:t> </a:t>
            </a:r>
            <a:r>
              <a:rPr lang="de-DE" dirty="0" err="1">
                <a:solidFill>
                  <a:srgbClr val="00B050"/>
                </a:solidFill>
              </a:rPr>
              <a:t>decrypt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/>
              <a:t>vars</a:t>
            </a:r>
            <a:r>
              <a:rPr lang="de-DE" dirty="0"/>
              <a:t>/</a:t>
            </a:r>
            <a:r>
              <a:rPr lang="de-DE" dirty="0" err="1"/>
              <a:t>secrets.yml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15309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9D9E54E-9E39-4828-9870-B2FBB38B772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Tag 2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FCDAC6D-5DB1-4096-9CB4-2FCA28B11EA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3694782-ED39-467D-AEED-00DB2F9A55C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196577-32D6-4FAD-B5BB-2155949087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C658C9-C3CB-4823-B9D9-67200FF49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B2ADAFB7-5C3B-40CC-87DD-E39FBAB2DD0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95550" y="939800"/>
            <a:ext cx="7200900" cy="1439863"/>
          </a:xfrm>
        </p:spPr>
        <p:txBody>
          <a:bodyPr/>
          <a:lstStyle/>
          <a:p>
            <a:r>
              <a:rPr lang="de-DE" dirty="0"/>
              <a:t>Deep Dive – </a:t>
            </a:r>
            <a:r>
              <a:rPr lang="de-DE" dirty="0" err="1"/>
              <a:t>Ansible</a:t>
            </a:r>
            <a:r>
              <a:rPr lang="de-DE" dirty="0"/>
              <a:t> </a:t>
            </a:r>
            <a:r>
              <a:rPr lang="de-DE" dirty="0" err="1"/>
              <a:t>Vault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84AC38F-DFFC-4403-B58C-C93C63050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721" y="3054212"/>
            <a:ext cx="7497729" cy="25923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438BF8D5-884F-45F3-A836-7B1027BC9010}"/>
              </a:ext>
            </a:extLst>
          </p:cNvPr>
          <p:cNvSpPr/>
          <p:nvPr/>
        </p:nvSpPr>
        <p:spPr>
          <a:xfrm>
            <a:off x="2126428" y="3019181"/>
            <a:ext cx="6489148" cy="16418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1E486AF-B720-472E-861F-0024B976B8D8}"/>
              </a:ext>
            </a:extLst>
          </p:cNvPr>
          <p:cNvSpPr/>
          <p:nvPr/>
        </p:nvSpPr>
        <p:spPr>
          <a:xfrm>
            <a:off x="2126428" y="4771818"/>
            <a:ext cx="7570022" cy="9097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FF78204B-586C-4526-9A82-5329C1169D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280" y="1754352"/>
            <a:ext cx="4977359" cy="1209452"/>
          </a:xfrm>
          <a:prstGeom prst="rect">
            <a:avLst/>
          </a:prstGeom>
        </p:spPr>
      </p:pic>
      <p:sp>
        <p:nvSpPr>
          <p:cNvPr id="21" name="Pfeil: nach rechts 20">
            <a:extLst>
              <a:ext uri="{FF2B5EF4-FFF2-40B4-BE49-F238E27FC236}">
                <a16:creationId xmlns:a16="http://schemas.microsoft.com/office/drawing/2014/main" id="{041FBF15-A772-418B-9404-97FADFCC1C80}"/>
              </a:ext>
            </a:extLst>
          </p:cNvPr>
          <p:cNvSpPr/>
          <p:nvPr/>
        </p:nvSpPr>
        <p:spPr>
          <a:xfrm rot="19986156">
            <a:off x="1374923" y="5101542"/>
            <a:ext cx="835231" cy="25027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Pfeil: nach rechts 21">
            <a:extLst>
              <a:ext uri="{FF2B5EF4-FFF2-40B4-BE49-F238E27FC236}">
                <a16:creationId xmlns:a16="http://schemas.microsoft.com/office/drawing/2014/main" id="{D38A0210-77E4-4939-A7B6-054E3B539E7D}"/>
              </a:ext>
            </a:extLst>
          </p:cNvPr>
          <p:cNvSpPr/>
          <p:nvPr/>
        </p:nvSpPr>
        <p:spPr>
          <a:xfrm rot="1891497">
            <a:off x="1382561" y="2978834"/>
            <a:ext cx="835231" cy="25027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38469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21" grpId="0" animBg="1"/>
      <p:bldP spid="22" grpId="0" animBg="1"/>
      <p:bldP spid="22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0F8D8F5-49C3-460A-8B02-22869ED8C3A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Tag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C224A4-FA0A-4C99-A89F-190296CD94B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DE" sz="2700" dirty="0"/>
              <a:t>Simulationsszenario – Benutzermanagement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D7CA7B8-FBEC-47C0-85FD-CDF45D650CB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1947863"/>
            <a:ext cx="7200000" cy="4343308"/>
          </a:xfrm>
        </p:spPr>
        <p:txBody>
          <a:bodyPr/>
          <a:lstStyle/>
          <a:p>
            <a:r>
              <a:rPr lang="de-DE" dirty="0"/>
              <a:t>Ziel: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zentrale Konfiguration für alle Benutzer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keine Passwörter im Klartext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Konfigurationsdatei anlegen</a:t>
            </a:r>
          </a:p>
          <a:p>
            <a:pPr lvl="1"/>
            <a:r>
              <a:rPr lang="de-DE" dirty="0" err="1">
                <a:solidFill>
                  <a:schemeClr val="bg1"/>
                </a:solidFill>
              </a:rPr>
              <a:t>Sudo</a:t>
            </a:r>
            <a:r>
              <a:rPr lang="de-DE" dirty="0">
                <a:solidFill>
                  <a:schemeClr val="bg1"/>
                </a:solidFill>
              </a:rPr>
              <a:t> Rechte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Benutzer und Gruppen anlegen</a:t>
            </a:r>
          </a:p>
          <a:p>
            <a:endParaRPr lang="de-DE" u="sng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753745-9F86-4BF3-BEAF-6E1C2690AC4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3694782-ED39-467D-AEED-00DB2F9A55C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F44CF9-FC95-415A-8786-D929CAAE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IT.NRW • Lab-Projekt - </a:t>
            </a:r>
            <a:r>
              <a:rPr lang="de-DE" dirty="0" err="1"/>
              <a:t>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82B0765-3D23-4BB1-902D-33E3A3C1D7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379677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5AEEEA3-78EF-487D-BA2B-E3760346953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Tag 2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3A2B78A-196C-4A99-9027-4BB382C31F4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2042809"/>
            <a:ext cx="7200000" cy="4248362"/>
          </a:xfrm>
        </p:spPr>
        <p:txBody>
          <a:bodyPr/>
          <a:lstStyle/>
          <a:p>
            <a:r>
              <a:rPr lang="de-DE" dirty="0"/>
              <a:t>Planung: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Userdaten anlegen </a:t>
            </a:r>
            <a:r>
              <a:rPr lang="de-DE" dirty="0" err="1">
                <a:solidFill>
                  <a:schemeClr val="bg1"/>
                </a:solidFill>
              </a:rPr>
              <a:t>users.yml</a:t>
            </a:r>
            <a:endParaRPr lang="de-DE" dirty="0">
              <a:solidFill>
                <a:schemeClr val="bg1"/>
              </a:solidFill>
            </a:endParaRPr>
          </a:p>
          <a:p>
            <a:pPr lvl="1"/>
            <a:r>
              <a:rPr lang="de-DE" dirty="0" err="1">
                <a:solidFill>
                  <a:schemeClr val="bg1"/>
                </a:solidFill>
              </a:rPr>
              <a:t>Ansible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Vault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verschlüsselung</a:t>
            </a:r>
            <a:endParaRPr lang="de-DE" dirty="0">
              <a:solidFill>
                <a:schemeClr val="bg1"/>
              </a:solidFill>
            </a:endParaRPr>
          </a:p>
          <a:p>
            <a:pPr lvl="1"/>
            <a:r>
              <a:rPr lang="de-DE" dirty="0" err="1">
                <a:solidFill>
                  <a:schemeClr val="bg1"/>
                </a:solidFill>
              </a:rPr>
              <a:t>Playbook</a:t>
            </a:r>
            <a:r>
              <a:rPr lang="de-DE" dirty="0">
                <a:solidFill>
                  <a:schemeClr val="bg1"/>
                </a:solidFill>
              </a:rPr>
              <a:t> erstellen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Ausführen</a:t>
            </a:r>
          </a:p>
          <a:p>
            <a:pPr lvl="1"/>
            <a:endParaRPr lang="de-DE" dirty="0">
              <a:solidFill>
                <a:schemeClr val="bg1"/>
              </a:solidFill>
            </a:endParaRPr>
          </a:p>
          <a:p>
            <a:pPr lvl="1"/>
            <a:endParaRPr lang="de-DE" dirty="0">
              <a:solidFill>
                <a:schemeClr val="bg1"/>
              </a:solidFill>
            </a:endParaRPr>
          </a:p>
          <a:p>
            <a:pPr lvl="1"/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B791C5D-F086-4B51-AEE6-6AC9AA5E45D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3694782-ED39-467D-AEED-00DB2F9A55C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91BCB22-0A4C-4D3D-88B6-7EE73D5F0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5CDD50-F0E9-4FBD-8385-26015A68F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398C960-0DCC-4F7B-9291-81C397FF4201}"/>
              </a:ext>
            </a:extLst>
          </p:cNvPr>
          <p:cNvSpPr txBox="1">
            <a:spLocks/>
          </p:cNvSpPr>
          <p:nvPr/>
        </p:nvSpPr>
        <p:spPr>
          <a:xfrm>
            <a:off x="2648400" y="10914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Arial-BoldM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700" dirty="0"/>
              <a:t>Simulationsszenario – Benutzermanagement</a:t>
            </a:r>
          </a:p>
        </p:txBody>
      </p:sp>
    </p:spTree>
    <p:extLst>
      <p:ext uri="{BB962C8B-B14F-4D97-AF65-F5344CB8AC3E}">
        <p14:creationId xmlns:p14="http://schemas.microsoft.com/office/powerpoint/2010/main" val="3502307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5253819-3343-495C-87E3-AE06EB2981A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Tag 2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BE37822-1969-4E84-B9B8-41E6CCD8996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1971472"/>
            <a:ext cx="7200000" cy="4319699"/>
          </a:xfrm>
        </p:spPr>
        <p:txBody>
          <a:bodyPr/>
          <a:lstStyle/>
          <a:p>
            <a:r>
              <a:rPr lang="de-DE" dirty="0"/>
              <a:t>viel Fehlersuche/Behebung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Am Ende gescheitert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B1A4D9-1AB1-42A6-BD33-0CA8A60B667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3694782-ED39-467D-AEED-00DB2F9A55C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F16EB5-377C-4BD1-AAE4-A862B5816B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51FDDF-8DB2-4847-B22B-57D20C391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F34B8FFB-2CA3-413F-8AFE-C3E4997BE20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95550" y="939800"/>
            <a:ext cx="7200900" cy="733357"/>
          </a:xfrm>
        </p:spPr>
        <p:txBody>
          <a:bodyPr/>
          <a:lstStyle/>
          <a:p>
            <a:r>
              <a:rPr lang="de-DE" sz="2700" dirty="0"/>
              <a:t>Simulationsszenario – Benutzermanagement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8ECF74E-FCF1-441C-AC1F-D9A1C6866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26" y="3962976"/>
            <a:ext cx="7640116" cy="71447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C6EAFFAA-F19A-4589-AB22-6115BE268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26" y="2891265"/>
            <a:ext cx="5896798" cy="142894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094BF4AB-AF1E-4B37-BC60-FC1937E3D2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032" y="2681686"/>
            <a:ext cx="4391638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29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DC174ED-4E55-49F7-8374-AE8E13033CF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Tag 3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71E8EE5-79EC-4739-A1A6-9305AEB0979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3047916-2C64-43AA-A78F-9249193DFAF7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73D4D9D-9A46-483A-AF32-378363763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AA744E6-43B2-4C84-B6DE-29D80DDC2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049887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DD6736-211B-4169-A402-94B0254CC91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Tag 3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3FD7CCA5-6719-41F9-A91C-C00087826C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899160"/>
            <a:ext cx="7200000" cy="5392011"/>
          </a:xfrm>
        </p:spPr>
        <p:txBody>
          <a:bodyPr/>
          <a:lstStyle/>
          <a:p>
            <a:r>
              <a:rPr lang="de-DE" sz="2600" dirty="0"/>
              <a:t>Abwesenheit bzgl. Start-Up-Projekts</a:t>
            </a:r>
          </a:p>
          <a:p>
            <a:r>
              <a:rPr lang="de-DE" sz="2600" dirty="0" err="1"/>
              <a:t>Gitpush</a:t>
            </a:r>
            <a:r>
              <a:rPr lang="de-DE" sz="2600" dirty="0"/>
              <a:t> (mit </a:t>
            </a:r>
            <a:r>
              <a:rPr lang="de-DE" sz="2600" dirty="0" err="1"/>
              <a:t>hilfe</a:t>
            </a:r>
            <a:r>
              <a:rPr lang="de-DE" sz="2600" dirty="0"/>
              <a:t> von Steven)</a:t>
            </a:r>
          </a:p>
          <a:p>
            <a:r>
              <a:rPr lang="de-DE" sz="2600" dirty="0"/>
              <a:t>Verzweifelter Versuch mit Hilfe von Gruppe Alpha das Benutzermanagement zu fixen</a:t>
            </a:r>
          </a:p>
          <a:p>
            <a:r>
              <a:rPr lang="de-DE" sz="2600" dirty="0"/>
              <a:t>Ausarbeitung bzw. Fertigstellung der Power-Point-Präsentation</a:t>
            </a:r>
          </a:p>
          <a:p>
            <a:r>
              <a:rPr lang="de-DE" sz="2600" dirty="0"/>
              <a:t>Wegräumen der Hardwarekomponenten</a:t>
            </a:r>
          </a:p>
          <a:p>
            <a:r>
              <a:rPr lang="de-DE" sz="2600" dirty="0"/>
              <a:t>Retrospektive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91D9E88-F213-4509-B7F9-88F4048A55C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489A54-C6BA-4628-A8FA-12D4372FA7A4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59EF1CE-0A36-4EE8-AB3A-7D8235854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27E257-AC31-49D1-A8E2-97E1F5CFC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081865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C7C9106-1B84-433B-A342-76A5769C146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96000" y="939099"/>
            <a:ext cx="7200000" cy="584901"/>
          </a:xfrm>
        </p:spPr>
        <p:txBody>
          <a:bodyPr/>
          <a:lstStyle/>
          <a:p>
            <a:r>
              <a:rPr lang="de-DE" dirty="0"/>
              <a:t>Retrospektive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5C5BDCBD-19B4-4F38-920F-381F6DFC8E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1706880"/>
            <a:ext cx="7200000" cy="4584291"/>
          </a:xfrm>
        </p:spPr>
        <p:txBody>
          <a:bodyPr/>
          <a:lstStyle/>
          <a:p>
            <a:r>
              <a:rPr lang="de-DE" sz="2200" dirty="0">
                <a:latin typeface="+mj-lt"/>
              </a:rPr>
              <a:t>Partnerarbeit lief gut:</a:t>
            </a:r>
          </a:p>
          <a:p>
            <a:pPr lvl="1"/>
            <a:r>
              <a:rPr lang="de-DE" sz="2200" dirty="0">
                <a:solidFill>
                  <a:schemeClr val="bg1"/>
                </a:solidFill>
                <a:latin typeface="+mj-lt"/>
              </a:rPr>
              <a:t>Aufgabenteilung</a:t>
            </a:r>
          </a:p>
          <a:p>
            <a:pPr lvl="1"/>
            <a:r>
              <a:rPr lang="de-DE" sz="2200" dirty="0">
                <a:solidFill>
                  <a:schemeClr val="bg1"/>
                </a:solidFill>
                <a:latin typeface="+mj-lt"/>
              </a:rPr>
              <a:t>Kommunikation</a:t>
            </a:r>
          </a:p>
          <a:p>
            <a:pPr lvl="1"/>
            <a:r>
              <a:rPr lang="de-DE" sz="2200" dirty="0">
                <a:solidFill>
                  <a:schemeClr val="bg1"/>
                </a:solidFill>
                <a:latin typeface="+mj-lt"/>
              </a:rPr>
              <a:t>Spaß (das Szenario exkludiert!)</a:t>
            </a:r>
          </a:p>
          <a:p>
            <a:pPr lvl="1"/>
            <a:r>
              <a:rPr lang="de-DE" sz="2200" dirty="0">
                <a:solidFill>
                  <a:schemeClr val="bg1"/>
                </a:solidFill>
                <a:latin typeface="+mj-lt"/>
              </a:rPr>
              <a:t>Wichtig: Dokumentation parallel anzufertigen</a:t>
            </a:r>
          </a:p>
          <a:p>
            <a:r>
              <a:rPr lang="de-DE" sz="2200" dirty="0" err="1">
                <a:solidFill>
                  <a:schemeClr val="bg1"/>
                </a:solidFill>
                <a:latin typeface="+mj-lt"/>
              </a:rPr>
              <a:t>Learnings</a:t>
            </a:r>
            <a:r>
              <a:rPr lang="de-DE" sz="2200" dirty="0">
                <a:solidFill>
                  <a:schemeClr val="bg1"/>
                </a:solidFill>
                <a:latin typeface="+mj-lt"/>
              </a:rPr>
              <a:t>:</a:t>
            </a:r>
          </a:p>
          <a:p>
            <a:pPr lvl="1"/>
            <a:r>
              <a:rPr lang="de-DE" sz="2200" dirty="0">
                <a:solidFill>
                  <a:schemeClr val="bg1"/>
                </a:solidFill>
                <a:latin typeface="+mj-lt"/>
              </a:rPr>
              <a:t>wenn ein Teammitglied fehlt merkt man das</a:t>
            </a:r>
          </a:p>
          <a:p>
            <a:pPr lvl="1"/>
            <a:r>
              <a:rPr lang="de-DE" sz="2200" dirty="0">
                <a:solidFill>
                  <a:schemeClr val="bg1"/>
                </a:solidFill>
                <a:latin typeface="+mj-lt"/>
              </a:rPr>
              <a:t>mehr Vorbereitung bzw. Einarbeitung empfehlenswert</a:t>
            </a:r>
          </a:p>
          <a:p>
            <a:pPr lvl="1"/>
            <a:r>
              <a:rPr lang="de-DE" sz="2200" dirty="0">
                <a:solidFill>
                  <a:schemeClr val="bg1"/>
                </a:solidFill>
                <a:latin typeface="+mj-lt"/>
              </a:rPr>
              <a:t>Planung erst überprüfen/mit Ausbilder absprechen</a:t>
            </a:r>
          </a:p>
          <a:p>
            <a:pPr lvl="1"/>
            <a:r>
              <a:rPr lang="de-DE" sz="2200" dirty="0">
                <a:solidFill>
                  <a:schemeClr val="bg1"/>
                </a:solidFill>
                <a:latin typeface="+mj-lt"/>
              </a:rPr>
              <a:t>mehr Zeit für Fehlersuche einplanen</a:t>
            </a:r>
          </a:p>
          <a:p>
            <a:pPr lvl="1"/>
            <a:r>
              <a:rPr lang="de-DE" sz="2200" dirty="0">
                <a:solidFill>
                  <a:schemeClr val="bg1"/>
                </a:solidFill>
                <a:latin typeface="+mj-lt"/>
              </a:rPr>
              <a:t>Backups erstellen für </a:t>
            </a:r>
            <a:r>
              <a:rPr lang="de-DE" sz="2200" dirty="0" err="1">
                <a:solidFill>
                  <a:schemeClr val="bg1"/>
                </a:solidFill>
                <a:latin typeface="+mj-lt"/>
              </a:rPr>
              <a:t>pot</a:t>
            </a:r>
            <a:r>
              <a:rPr lang="de-DE" sz="2200" dirty="0">
                <a:solidFill>
                  <a:schemeClr val="bg1"/>
                </a:solidFill>
                <a:latin typeface="+mj-lt"/>
              </a:rPr>
              <a:t>. </a:t>
            </a:r>
            <a:r>
              <a:rPr lang="de-DE" sz="2200" dirty="0" err="1">
                <a:solidFill>
                  <a:schemeClr val="bg1"/>
                </a:solidFill>
                <a:latin typeface="+mj-lt"/>
              </a:rPr>
              <a:t>neustart</a:t>
            </a:r>
            <a:endParaRPr lang="de-DE" sz="2200" dirty="0">
              <a:solidFill>
                <a:schemeClr val="bg1"/>
              </a:solidFill>
              <a:latin typeface="+mj-lt"/>
            </a:endParaRPr>
          </a:p>
          <a:p>
            <a:pPr marL="457200" lvl="1" indent="0"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94C7009-3466-4798-96B4-35BE5064FC6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E1330CE-9F9A-455C-9770-60074314FD5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9DFA9D4-8FE0-4880-A438-3217D3484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E2CB40-1F9B-47F0-99DB-A48F25A10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B5E65C8-DD98-4352-875C-49A5023F1ED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Tag 3</a:t>
            </a:r>
          </a:p>
        </p:txBody>
      </p:sp>
    </p:spTree>
    <p:extLst>
      <p:ext uri="{BB962C8B-B14F-4D97-AF65-F5344CB8AC3E}">
        <p14:creationId xmlns:p14="http://schemas.microsoft.com/office/powerpoint/2010/main" val="7738416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22426E2-45CF-4187-A2C2-8FEC9786DC7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Tag 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EA32EB-28E6-4B32-8E77-AA8F863123B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DE" dirty="0"/>
              <a:t>Feedback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CF8EB5D-2C5E-4CC3-AA07-064AD045D6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1932562"/>
            <a:ext cx="7200000" cy="4358609"/>
          </a:xfrm>
        </p:spPr>
        <p:txBody>
          <a:bodyPr/>
          <a:lstStyle/>
          <a:p>
            <a:r>
              <a:rPr lang="de-DE" dirty="0" err="1"/>
              <a:t>Ansible</a:t>
            </a:r>
            <a:r>
              <a:rPr lang="de-DE" dirty="0"/>
              <a:t>-Projekttage lieber als Seminar bzw. Workshop (30 Min Theorie, 60 Min Praxis pro Block) </a:t>
            </a:r>
            <a:r>
              <a:rPr lang="de-DE" dirty="0">
                <a:sym typeface="Wingdings" panose="05000000000000000000" pitchFamily="2" charset="2"/>
              </a:rPr>
              <a:t> mehr Lerneffekt</a:t>
            </a:r>
          </a:p>
          <a:p>
            <a:r>
              <a:rPr lang="de-DE" dirty="0">
                <a:sym typeface="Wingdings" panose="05000000000000000000" pitchFamily="2" charset="2"/>
              </a:rPr>
              <a:t>mehr Zeit nötig</a:t>
            </a:r>
          </a:p>
          <a:p>
            <a:r>
              <a:rPr lang="de-DE" dirty="0">
                <a:sym typeface="Wingdings" panose="05000000000000000000" pitchFamily="2" charset="2"/>
              </a:rPr>
              <a:t>4er Gruppen optimal</a:t>
            </a:r>
          </a:p>
          <a:p>
            <a:r>
              <a:rPr lang="de-DE" dirty="0">
                <a:sym typeface="Wingdings" panose="05000000000000000000" pitchFamily="2" charset="2"/>
              </a:rPr>
              <a:t>Idee der </a:t>
            </a:r>
            <a:r>
              <a:rPr lang="de-DE" dirty="0" err="1">
                <a:sym typeface="Wingdings" panose="05000000000000000000" pitchFamily="2" charset="2"/>
              </a:rPr>
              <a:t>WarmUps</a:t>
            </a:r>
            <a:r>
              <a:rPr lang="de-DE" dirty="0">
                <a:sym typeface="Wingdings" panose="05000000000000000000" pitchFamily="2" charset="2"/>
              </a:rPr>
              <a:t> sehr gut</a:t>
            </a:r>
          </a:p>
          <a:p>
            <a:pPr marL="457200" lvl="1" indent="0">
              <a:buNone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gerne immer einplanen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BE21DB0-6BB6-44EE-836B-94BCB88C160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3694782-ED39-467D-AEED-00DB2F9A55C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19AE6D-7EC2-4389-AD8C-35933E7712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0BD0F9-184C-4F92-9D27-39217C5389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77598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C3ED600-BAAB-4B1B-B565-DACE2F56408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tobias.becker@it.nrw.de</a:t>
            </a:r>
            <a:endParaRPr lang="de-DE" dirty="0"/>
          </a:p>
          <a:p>
            <a:endParaRPr lang="de-DE" dirty="0"/>
          </a:p>
          <a:p>
            <a:r>
              <a:rPr lang="de-DE" dirty="0">
                <a:hlinkClick r:id="rId3"/>
              </a:rPr>
              <a:t>simon.hitze@it.nrw.de</a:t>
            </a:r>
            <a:endParaRPr lang="de-DE" dirty="0"/>
          </a:p>
          <a:p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5D44E95-9FCF-4A00-ABBC-42C698C5AA7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A561FB3-6329-4879-859A-227E513F5B2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5ADDFA4-ED7D-4F5F-AD85-CF5E56BBD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Lab-Projekt - Ansible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4BAD43-FD97-4E27-B717-718CE367B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3946803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Basisfolie">
  <a:themeElements>
    <a:clrScheme name="ITNRW_2024">
      <a:dk1>
        <a:srgbClr val="131E35"/>
      </a:dk1>
      <a:lt1>
        <a:sysClr val="window" lastClr="FFFFFF"/>
      </a:lt1>
      <a:dk2>
        <a:srgbClr val="131E35"/>
      </a:dk2>
      <a:lt2>
        <a:srgbClr val="9AB3DF"/>
      </a:lt2>
      <a:accent1>
        <a:srgbClr val="009FE3"/>
      </a:accent1>
      <a:accent2>
        <a:srgbClr val="00689E"/>
      </a:accent2>
      <a:accent3>
        <a:srgbClr val="A1A3A6"/>
      </a:accent3>
      <a:accent4>
        <a:srgbClr val="A0C300"/>
      </a:accent4>
      <a:accent5>
        <a:srgbClr val="00477D"/>
      </a:accent5>
      <a:accent6>
        <a:srgbClr val="00A8B4"/>
      </a:accent6>
      <a:hlink>
        <a:srgbClr val="D0B500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it-nrw-vorlage2024</Template>
  <TotalTime>0</TotalTime>
  <Words>595</Words>
  <Application>Microsoft Office PowerPoint</Application>
  <PresentationFormat>Breitbild</PresentationFormat>
  <Paragraphs>164</Paragraphs>
  <Slides>19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3" baseType="lpstr">
      <vt:lpstr>Arial</vt:lpstr>
      <vt:lpstr>Arial-BoldMT</vt:lpstr>
      <vt:lpstr>Calibri</vt:lpstr>
      <vt:lpstr>Basisfolie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205s04 (Schulungsuser04 in Raum205)</dc:creator>
  <cp:lastModifiedBy>Administrator</cp:lastModifiedBy>
  <cp:revision>121</cp:revision>
  <dcterms:created xsi:type="dcterms:W3CDTF">2025-08-12T11:55:07Z</dcterms:created>
  <dcterms:modified xsi:type="dcterms:W3CDTF">2026-06-12T11:34:55Z</dcterms:modified>
</cp:coreProperties>
</file>